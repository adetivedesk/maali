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157a51c-cf2a-2e95-8dfa-cf96159d0f34}">
          <p14:sldIdLst>
            <p14:sldId id="256"/>
            <p14:sldId id="257"/>
            <p14:sldId id="258"/>
          </p14:sldIdLst>
        </p14:section>
        <p14:section name="Part 1 · Reading the figures" id="{8999fbaf-083e-a4f7-dfca-e52ca1d28c74}">
          <p14:sldIdLst>
            <p14:sldId id="259"/>
            <p14:sldId id="260"/>
            <p14:sldId id="261"/>
            <p14:sldId id="262"/>
            <p14:sldId id="263"/>
            <p14:sldId id="264"/>
            <p14:sldId id="265"/>
            <p14:sldId id="266"/>
          </p14:sldIdLst>
        </p14:section>
        <p14:section name="Part 2 · Workflow walkthrough" id="{0a3e37a5-15c6-572c-75ee-e78af58178e1}">
          <p14:sldIdLst>
            <p14:sldId id="267"/>
            <p14:sldId id="268"/>
            <p14:sldId id="269"/>
            <p14:sldId id="270"/>
            <p14:sldId id="271"/>
            <p14:sldId id="272"/>
            <p14:sldId id="273"/>
            <p14:sldId id="274"/>
          </p14:sldIdLst>
        </p14:section>
        <p14:section name="Wrap-up" id="{6221ead0-6939-e406-b6ad-de6447ed4813}">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F3A"/>
                </a:solidFill>
                <a:latin typeface="+mn-lt"/>
              </a:defRPr>
            </a:pPr>
            <a:r>
              <a:rPr sz="1400" b="0" i="0" u="none" strike="noStrike">
                <a:solidFill>
                  <a:srgbClr val="0F1F3A"/>
                </a:solidFill>
                <a:latin typeface="+mn-lt"/>
              </a:rPr>
              <a:t>Foundation (PH-001) · planned vs actual cost (₹)</a:t>
            </a:r>
          </a:p>
        </c:rich>
      </c:tx>
      <c:layout/>
      <c:overlay val="0"/>
    </c:title>
    <c:autoTitleDeleted val="0"/>
    <c:plotArea>
      <c:layout/>
      <c:barChart>
        <c:barDir val="col"/>
        <c:grouping val="clustered"/>
        <c:varyColors val="0"/>
        <c:ser>
          <c:idx val="0"/>
          <c:order val="0"/>
          <c:tx>
            <c:strRef>
              <c:f>Sheet1!$B$1</c:f>
              <c:strCache>
                <c:ptCount val="1"/>
                <c:pt idx="0">
                  <c:v>Planned</c:v>
                </c:pt>
              </c:strCache>
            </c:strRef>
          </c:tx>
          <c:spPr>
            <a:solidFill>
              <a:srgbClr val="2A78D6"/>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Material</c:v>
                  </c:pt>
                  <c:pt idx="1">
                    <c:v>Own labour</c:v>
                  </c:pt>
                  <c:pt idx="2">
                    <c:v>Outsource</c:v>
                  </c:pt>
                </c:lvl>
              </c:multiLvlStrCache>
            </c:multiLvlStrRef>
          </c:cat>
          <c:val>
            <c:numRef>
              <c:f>Sheet1!$B$2:$B$4</c:f>
              <c:numCache>
                <c:formatCode>General</c:formatCode>
                <c:ptCount val="3"/>
                <c:pt idx="0">
                  <c:v>220000</c:v>
                </c:pt>
                <c:pt idx="1">
                  <c:v>130000</c:v>
                </c:pt>
                <c:pt idx="2">
                  <c:v>200000</c:v>
                </c:pt>
              </c:numCache>
            </c:numRef>
          </c:val>
        </c:ser>
        <c:ser>
          <c:idx val="1"/>
          <c:order val="1"/>
          <c:tx>
            <c:strRef>
              <c:f>Sheet1!$C$1</c:f>
              <c:strCache>
                <c:ptCount val="1"/>
                <c:pt idx="0">
                  <c:v>Actual</c:v>
                </c:pt>
              </c:strCache>
            </c:strRef>
          </c:tx>
          <c:spPr>
            <a:solidFill>
              <a:srgbClr val="EB6834"/>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Material</c:v>
                  </c:pt>
                  <c:pt idx="1">
                    <c:v>Own labour</c:v>
                  </c:pt>
                  <c:pt idx="2">
                    <c:v>Outsource</c:v>
                  </c:pt>
                </c:lvl>
              </c:multiLvlStrCache>
            </c:multiLvlStrRef>
          </c:cat>
          <c:val>
            <c:numRef>
              <c:f>Sheet1!$C$2:$C$4</c:f>
              <c:numCache>
                <c:formatCode>General</c:formatCode>
                <c:ptCount val="3"/>
                <c:pt idx="0">
                  <c:v>210000</c:v>
                </c:pt>
                <c:pt idx="1">
                  <c:v>120000</c:v>
                </c:pt>
                <c:pt idx="2">
                  <c:v>180000</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F3A"/>
                </a:solidFill>
                <a:latin typeface="+mn-lt"/>
              </a:defRPr>
            </a:pPr>
            <a:r>
              <a:rPr sz="1400" b="0" i="0" u="none" strike="noStrike">
                <a:solidFill>
                  <a:srgbClr val="0F1F3A"/>
                </a:solidFill>
                <a:latin typeface="+mn-lt"/>
              </a:rPr>
              <a:t>By project (₹ lakh)</a:t>
            </a:r>
          </a:p>
        </c:rich>
      </c:tx>
      <c:layout/>
      <c:overlay val="0"/>
    </c:title>
    <c:autoTitleDeleted val="0"/>
    <c:plotArea>
      <c:layout/>
      <c:barChart>
        <c:barDir val="col"/>
        <c:grouping val="clustered"/>
        <c:varyColors val="0"/>
        <c:ser>
          <c:idx val="0"/>
          <c:order val="0"/>
          <c:tx>
            <c:strRef>
              <c:f>Sheet1!$B$1</c:f>
              <c:strCache>
                <c:ptCount val="1"/>
                <c:pt idx="0">
                  <c:v>Total revenue</c:v>
                </c:pt>
              </c:strCache>
            </c:strRef>
          </c:tx>
          <c:spPr>
            <a:solidFill>
              <a:srgbClr val="2A78D6"/>
            </a:solidFill>
            <a:effectLst/>
          </c:spPr>
          <c:invertIfNegative val="0"/>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ABC Villa</c:v>
                  </c:pt>
                  <c:pt idx="1">
                    <c:v>Green Valley</c:v>
                  </c:pt>
                  <c:pt idx="2">
                    <c:v>SRK Warehouse</c:v>
                  </c:pt>
                </c:lvl>
              </c:multiLvlStrCache>
            </c:multiLvlStrRef>
          </c:cat>
          <c:val>
            <c:numRef>
              <c:f>Sheet1!$B$2:$B$4</c:f>
              <c:numCache>
                <c:formatCode>General</c:formatCode>
                <c:ptCount val="3"/>
                <c:pt idx="0">
                  <c:v>55</c:v>
                </c:pt>
                <c:pt idx="1">
                  <c:v>82.5</c:v>
                </c:pt>
                <c:pt idx="2">
                  <c:v>38</c:v>
                </c:pt>
              </c:numCache>
            </c:numRef>
          </c:val>
        </c:ser>
        <c:ser>
          <c:idx val="1"/>
          <c:order val="1"/>
          <c:tx>
            <c:strRef>
              <c:f>Sheet1!$C$1</c:f>
              <c:strCache>
                <c:ptCount val="1"/>
                <c:pt idx="0">
                  <c:v>Actual cost</c:v>
                </c:pt>
              </c:strCache>
            </c:strRef>
          </c:tx>
          <c:spPr>
            <a:solidFill>
              <a:srgbClr val="EB6834"/>
            </a:solidFill>
            <a:effectLst/>
          </c:spPr>
          <c:invertIfNegative val="0"/>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ABC Villa</c:v>
                  </c:pt>
                  <c:pt idx="1">
                    <c:v>Green Valley</c:v>
                  </c:pt>
                  <c:pt idx="2">
                    <c:v>SRK Warehouse</c:v>
                  </c:pt>
                </c:lvl>
              </c:multiLvlStrCache>
            </c:multiLvlStrRef>
          </c:cat>
          <c:val>
            <c:numRef>
              <c:f>Sheet1!$C$2:$C$4</c:f>
              <c:numCache>
                <c:formatCode>General</c:formatCode>
                <c:ptCount val="3"/>
                <c:pt idx="0">
                  <c:v>14.61</c:v>
                </c:pt>
                <c:pt idx="1">
                  <c:v>26.52</c:v>
                </c:pt>
                <c:pt idx="2">
                  <c:v>25.24</c:v>
                </c:pt>
              </c:numCache>
            </c:numRef>
          </c:val>
        </c:ser>
        <c:ser>
          <c:idx val="2"/>
          <c:order val="2"/>
          <c:tx>
            <c:strRef>
              <c:f>Sheet1!$D$1</c:f>
              <c:strCache>
                <c:ptCount val="1"/>
                <c:pt idx="0">
                  <c:v>Actual profit</c:v>
                </c:pt>
              </c:strCache>
            </c:strRef>
          </c:tx>
          <c:spPr>
            <a:solidFill>
              <a:srgbClr val="138A5E"/>
            </a:solidFill>
            <a:effectLst/>
          </c:spPr>
          <c:invertIfNegative val="0"/>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ABC Villa</c:v>
                  </c:pt>
                  <c:pt idx="1">
                    <c:v>Green Valley</c:v>
                  </c:pt>
                  <c:pt idx="2">
                    <c:v>SRK Warehouse</c:v>
                  </c:pt>
                </c:lvl>
              </c:multiLvlStrCache>
            </c:multiLvlStrRef>
          </c:cat>
          <c:val>
            <c:numRef>
              <c:f>Sheet1!$D$2:$D$4</c:f>
              <c:numCache>
                <c:formatCode>General</c:formatCode>
                <c:ptCount val="3"/>
                <c:pt idx="0">
                  <c:v>2.9</c:v>
                </c:pt>
                <c:pt idx="1">
                  <c:v>10.48</c:v>
                </c:pt>
                <c:pt idx="2">
                  <c:v>12.76</c:v>
                </c:pt>
              </c:numCache>
            </c:numRef>
          </c:val>
        </c:ser>
        <c:ser>
          <c:idx val="3"/>
          <c:order val="3"/>
          <c:tx>
            <c:strRef>
              <c:f>Sheet1!$E$1</c:f>
              <c:strCache>
                <c:ptCount val="1"/>
                <c:pt idx="0">
                  <c:v>Forecast profit</c:v>
                </c:pt>
              </c:strCache>
            </c:strRef>
          </c:tx>
          <c:spPr>
            <a:solidFill>
              <a:srgbClr val="F2A900"/>
            </a:solidFill>
            <a:effectLst/>
          </c:spPr>
          <c:invertIfNegative val="0"/>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ABC Villa</c:v>
                  </c:pt>
                  <c:pt idx="1">
                    <c:v>Green Valley</c:v>
                  </c:pt>
                  <c:pt idx="2">
                    <c:v>SRK Warehouse</c:v>
                  </c:pt>
                </c:lvl>
              </c:multiLvlStrCache>
            </c:multiLvlStrRef>
          </c:cat>
          <c:val>
            <c:numRef>
              <c:f>Sheet1!$E$2:$E$4</c:f>
              <c:numCache>
                <c:formatCode>General</c:formatCode>
                <c:ptCount val="3"/>
                <c:pt idx="0">
                  <c:v>18.4</c:v>
                </c:pt>
                <c:pt idx="1">
                  <c:v>28.18</c:v>
                </c:pt>
                <c:pt idx="2">
                  <c:v>12.76</c:v>
                </c:pt>
              </c:numCache>
            </c:numRef>
          </c:val>
        </c:ser>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has two parts. Part 1 explains every number you see in the app: what it means and exactly how it is calculated. Part 2 walks through the workflow from quotation to project closure using the demo projects. All figures in the deck come from the live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application is built around one objective: know exactly how much money was contracted, received and spent, what is still payable or receivable, and how much profit was actually generated. These are the portfolio totals from the demo data on the Management Dashboard. Profit counts only completed phases, so it is a figure you can audit; forecast profit shows where the portfolio will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the whole app is built around. Each step creates records that the next step uses. The project page shows this same 8-step strip and ticks steps off as the project progresses.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card is clickable and opens the list behind it. Colour carries meaning: green is money in or profit, red is money still owed to us or overdue, amber is money we owe suppliers.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is recognised only when a phase is completed, so actual profit is always backed by finished work and real costs. Cost already spent on unfinished phases is work in progress: it is not counted as a loss and not yet as profit. Billed profit is a quick cash-style check, and it reads low whenever work is done before it is invoiced. Forecast profit shows where each project will land if unfinished phases cost at least their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is complete, so its full ₹8,00,000 contract value is recognised and its profit counts. Material came in ₹10,000 under budget, own labour ₹10,000 under and outsource ₹20,000 under: ₹40,000 under budget in total. Profit = ₹8,00,000 − ₹5,10,000 = ₹2,90,000; margin = ₹2,90,000 ÷ ₹8,00,000 = 36.25%.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page always shows these two cards side by side. Only Foundation is complete at ABC Villa, so actual profit is ₹2,90,000; the ₹9,51,400 spent on Structure and Electrical work is work in progress until those phases complete. The cash position tells you whether you have the money right now: costs are paid as they are incurred, but cash only arrives when the client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Hover any bar in the app for exact figures. The meters at the bottom answer two questions quickly: how much of what we billed has been collected, and how much of what suppliers billed us is still unpaid.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the full contract including approved change orders. Actual profit counts completed phases only, so it steps up each time a phase is finished; forecast profit (amber) shows the expected end result. For SRK, which is fully complete, actual and forecast profit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has its own dashboard with the same planned-vs-actual table. Budget bars turn amber above 90% and red above 100%. The expense form also warns you before you save an entry that pushes a category over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QT-2026-005 for Coastal Logistics is approved at ₹40,00,000 with ₹28,00,000 estimated cost, a 30% expected margin. Clicking Convert creates the project in Contract Pending status, four phases, and a contract record awaiting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strip at the top of every project ticks off each stage. Phase statuses run Planned → In Progress → Completed → Billed → Payment Received → Closed. Billing statuses are set automatically when invoices and receipts are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Quick add → Expense from anywhere. Pick the project and phase, choose Material, Own Labour, Outsource or Other Direct, and enter quantities. The amount is calculated live, and the yellow warning shows how the entry affects the phase budget. Profitability updates as soon as you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Suppliers, expand an invoice to see its expense lines and payment history, and click Pay. The pending and overdue totals on the supplier page and the dashboard update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Ready to bill list shows phases with unbilled value. "Billable now" in blue is a completed phase that has not been invoiced yet. Use Bill now for a completed phase, or a running bill (25%, 30%, 50%) for work in progress. Record client payment supports bank transfer, cash, cheque or other, with a reference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orders can be saved as Pending Approval and approved later; Green Valley has one waiting (CO-2026-002, ₹2,50,000). Only approved change orders count toward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SRK Warehouse is complete with every phase billed, so it is ready to close in the demo. The report covers project information, revenue, expenses, profitability, supplier settlement and a phase summary. Outstanding client and supplier amounts stay visible after closure so they can still be chased and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path covers every step of the workflow in about ten minutes. Each visitor gets their own copy of the demo data, so nothing you change affects anyone else. Next stage: connect a backend and database; the data layer and calculations are already structured to be swapped for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96012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Title</a:t>
            </a:r>
            <a:endParaRPr lang="en-US" sz="4800" dirty="0"/>
          </a:p>
        </p:txBody>
      </p:sp>
      <p:sp>
        <p:nvSpPr>
          <p:cNvPr id="3" name="Text 0"/>
          <p:cNvSpPr/>
          <p:nvPr>
            <p:ph idx="101" type="body" hasCustomPrompt="1"/>
          </p:nvPr>
        </p:nvSpPr>
        <p:spPr>
          <a:xfrm>
            <a:off x="548640" y="3749040"/>
            <a:ext cx="9601200" cy="91440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r>
              <a:rPr lang="en-US" sz="2000" dirty="0">
                <a:solidFill>
                  <a:schemeClr val="accent1"/>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0"/>
            <a:ext cx="105156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Section</a:t>
            </a:r>
            <a:endParaRPr lang="en-US" sz="4000" dirty="0"/>
          </a:p>
        </p:txBody>
      </p:sp>
      <p:sp>
        <p:nvSpPr>
          <p:cNvPr id="3" name="Text 0"/>
          <p:cNvSpPr/>
          <p:nvPr>
            <p:ph idx="101" type="body" hasCustomPrompt="1"/>
          </p:nvPr>
        </p:nvSpPr>
        <p:spPr>
          <a:xfrm>
            <a:off x="548640" y="3886200"/>
            <a:ext cx="1051560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r>
              <a:rPr lang="en-US" sz="1800" dirty="0">
                <a:solidFill>
                  <a:schemeClr val="bg2"/>
                </a:solidFill>
              </a:rPr>
              <a:t>Subtitle</a:t>
            </a: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r>
              <a:rPr lang="en-US" sz="3000" b="1" dirty="0">
                <a:solidFill>
                  <a:schemeClr val="tx2"/>
                </a:solidFill>
              </a:rPr>
              <a:t>Title</a:t>
            </a:r>
            <a:endParaRPr lang="en-US" sz="30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Maali Civil ERP · Figures &amp; workflow walkthrough</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adetivedesk.github.io/Maali/"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adetivedesk.github.io/Maali/" TargetMode="Externa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9601200" cy="1463040"/>
          </a:xfrm>
          <a:prstGeom prst="rect">
            <a:avLst/>
          </a:prstGeom>
          <a:noFill/>
          <a:ln/>
        </p:spPr>
        <p:txBody>
          <a:bodyPr wrap="square" lIns="0" tIns="0" rIns="0" bIns="0" rtlCol="0" anchor="b"/>
          <a:lstStyle/>
          <a:p>
            <a:pPr algn="l" indent="0" marL="0">
              <a:buNone/>
            </a:pPr>
            <a:r>
              <a:rPr lang="en-US" sz="4800" b="1" dirty="0">
                <a:solidFill>
                  <a:schemeClr val="bg1"/>
                </a:solidFill>
              </a:rPr>
              <a:t>Maali Civil ERP</a:t>
            </a:r>
            <a:endParaRPr lang="en-US" sz="4800" dirty="0"/>
          </a:p>
        </p:txBody>
      </p:sp>
      <p:sp>
        <p:nvSpPr>
          <p:cNvPr id="3" name="Text 0"/>
          <p:cNvSpPr/>
          <p:nvPr>
            <p:ph idx="101" type="body" hasCustomPrompt="1"/>
          </p:nvPr>
        </p:nvSpPr>
        <p:spPr>
          <a:xfrm>
            <a:off x="548640" y="3749040"/>
            <a:ext cx="9601200" cy="914400"/>
          </a:xfrm>
          <a:prstGeom prst="rect">
            <a:avLst/>
          </a:prstGeom>
          <a:noFill/>
          <a:ln/>
        </p:spPr>
        <p:txBody>
          <a:bodyPr wrap="square" lIns="0" tIns="0" rIns="0" bIns="0" rtlCol="0" anchor="t"/>
          <a:lstStyle/>
          <a:p>
            <a:pPr algn="l" indent="0" marL="0">
              <a:buNone/>
            </a:pPr>
            <a:r>
              <a:rPr lang="en-US" sz="2000" dirty="0">
                <a:solidFill>
                  <a:schemeClr val="accent1"/>
                </a:solidFill>
              </a:rPr>
              <a:t>What every figure means, and how a project moves from quote to closure</a:t>
            </a:r>
            <a:endParaRPr lang="en-US" sz="2000" dirty="0"/>
          </a:p>
        </p:txBody>
      </p:sp>
      <p:sp>
        <p:nvSpPr>
          <p:cNvPr id="4" name="dot-1"/>
          <p:cNvSpPr/>
          <p:nvPr/>
        </p:nvSpPr>
        <p:spPr>
          <a:xfrm>
            <a:off x="548640" y="1417320"/>
            <a:ext cx="310896" cy="310896"/>
          </a:xfrm>
          <a:prstGeom prst="ellipse">
            <a:avLst/>
          </a:prstGeom>
          <a:solidFill>
            <a:schemeClr val="accent1"/>
          </a:solidFill>
          <a:ln/>
        </p:spPr>
      </p:sp>
      <p:sp>
        <p:nvSpPr>
          <p:cNvPr id="5" name="dot-line-2"/>
          <p:cNvSpPr/>
          <p:nvPr/>
        </p:nvSpPr>
        <p:spPr>
          <a:xfrm>
            <a:off x="859536" y="1572768"/>
            <a:ext cx="256032" cy="0"/>
          </a:xfrm>
          <a:prstGeom prst="line">
            <a:avLst/>
          </a:prstGeom>
          <a:noFill/>
          <a:ln w="19050">
            <a:solidFill>
              <a:schemeClr val="accent1"/>
            </a:solidFill>
            <a:prstDash val="solid"/>
          </a:ln>
        </p:spPr>
      </p:sp>
      <p:sp>
        <p:nvSpPr>
          <p:cNvPr id="6" name="dot-3"/>
          <p:cNvSpPr/>
          <p:nvPr/>
        </p:nvSpPr>
        <p:spPr>
          <a:xfrm>
            <a:off x="1115568" y="1417320"/>
            <a:ext cx="310896" cy="310896"/>
          </a:xfrm>
          <a:prstGeom prst="ellipse">
            <a:avLst/>
          </a:prstGeom>
          <a:solidFill>
            <a:schemeClr val="accent1"/>
          </a:solidFill>
          <a:ln/>
        </p:spPr>
      </p:sp>
      <p:sp>
        <p:nvSpPr>
          <p:cNvPr id="7" name="dot-line-4"/>
          <p:cNvSpPr/>
          <p:nvPr/>
        </p:nvSpPr>
        <p:spPr>
          <a:xfrm>
            <a:off x="1426464" y="1572768"/>
            <a:ext cx="256032" cy="0"/>
          </a:xfrm>
          <a:prstGeom prst="line">
            <a:avLst/>
          </a:prstGeom>
          <a:noFill/>
          <a:ln w="19050">
            <a:solidFill>
              <a:schemeClr val="accent1"/>
            </a:solidFill>
            <a:prstDash val="solid"/>
          </a:ln>
        </p:spPr>
      </p:sp>
      <p:sp>
        <p:nvSpPr>
          <p:cNvPr id="8" name="dot-5"/>
          <p:cNvSpPr/>
          <p:nvPr/>
        </p:nvSpPr>
        <p:spPr>
          <a:xfrm>
            <a:off x="1682496" y="1417320"/>
            <a:ext cx="310896" cy="310896"/>
          </a:xfrm>
          <a:prstGeom prst="ellipse">
            <a:avLst/>
          </a:prstGeom>
          <a:solidFill>
            <a:schemeClr val="accent1"/>
          </a:solidFill>
          <a:ln/>
        </p:spPr>
      </p:sp>
      <p:sp>
        <p:nvSpPr>
          <p:cNvPr id="9" name="dot-line-6"/>
          <p:cNvSpPr/>
          <p:nvPr/>
        </p:nvSpPr>
        <p:spPr>
          <a:xfrm>
            <a:off x="1993392" y="1572768"/>
            <a:ext cx="256032" cy="0"/>
          </a:xfrm>
          <a:prstGeom prst="line">
            <a:avLst/>
          </a:prstGeom>
          <a:noFill/>
          <a:ln w="19050">
            <a:solidFill>
              <a:schemeClr val="accent1"/>
            </a:solidFill>
            <a:prstDash val="solid"/>
          </a:ln>
        </p:spPr>
      </p:sp>
      <p:sp>
        <p:nvSpPr>
          <p:cNvPr id="10" name="dot-7"/>
          <p:cNvSpPr/>
          <p:nvPr/>
        </p:nvSpPr>
        <p:spPr>
          <a:xfrm>
            <a:off x="2249424" y="1417320"/>
            <a:ext cx="310896" cy="310896"/>
          </a:xfrm>
          <a:prstGeom prst="ellipse">
            <a:avLst/>
          </a:prstGeom>
          <a:solidFill>
            <a:schemeClr val="accent1"/>
          </a:solidFill>
          <a:ln/>
        </p:spPr>
      </p:sp>
      <p:sp>
        <p:nvSpPr>
          <p:cNvPr id="11" name="dot-line-8"/>
          <p:cNvSpPr/>
          <p:nvPr/>
        </p:nvSpPr>
        <p:spPr>
          <a:xfrm>
            <a:off x="2560320" y="1572768"/>
            <a:ext cx="256032" cy="0"/>
          </a:xfrm>
          <a:prstGeom prst="line">
            <a:avLst/>
          </a:prstGeom>
          <a:noFill/>
          <a:ln w="19050">
            <a:solidFill>
              <a:schemeClr val="accent1"/>
            </a:solidFill>
            <a:prstDash val="solid"/>
          </a:ln>
        </p:spPr>
      </p:sp>
      <p:sp>
        <p:nvSpPr>
          <p:cNvPr id="12" name="dot-9"/>
          <p:cNvSpPr/>
          <p:nvPr/>
        </p:nvSpPr>
        <p:spPr>
          <a:xfrm>
            <a:off x="2816352" y="1417320"/>
            <a:ext cx="310896" cy="310896"/>
          </a:xfrm>
          <a:prstGeom prst="ellipse">
            <a:avLst/>
          </a:prstGeom>
          <a:solidFill>
            <a:schemeClr val="accent1"/>
          </a:solidFill>
          <a:ln/>
        </p:spPr>
      </p:sp>
      <p:sp>
        <p:nvSpPr>
          <p:cNvPr id="13" name="dot-line-10"/>
          <p:cNvSpPr/>
          <p:nvPr/>
        </p:nvSpPr>
        <p:spPr>
          <a:xfrm>
            <a:off x="3127248" y="1572768"/>
            <a:ext cx="256032" cy="0"/>
          </a:xfrm>
          <a:prstGeom prst="line">
            <a:avLst/>
          </a:prstGeom>
          <a:noFill/>
          <a:ln w="19050">
            <a:solidFill>
              <a:schemeClr val="accent1"/>
            </a:solidFill>
            <a:prstDash val="solid"/>
          </a:ln>
        </p:spPr>
      </p:sp>
      <p:sp>
        <p:nvSpPr>
          <p:cNvPr id="14" name="dot-11"/>
          <p:cNvSpPr/>
          <p:nvPr/>
        </p:nvSpPr>
        <p:spPr>
          <a:xfrm>
            <a:off x="3383280" y="1417320"/>
            <a:ext cx="310896" cy="310896"/>
          </a:xfrm>
          <a:prstGeom prst="ellipse">
            <a:avLst/>
          </a:prstGeom>
          <a:solidFill>
            <a:schemeClr val="accent1"/>
          </a:solidFill>
          <a:ln/>
        </p:spPr>
      </p:sp>
      <p:sp>
        <p:nvSpPr>
          <p:cNvPr id="15" name="dot-line-12"/>
          <p:cNvSpPr/>
          <p:nvPr/>
        </p:nvSpPr>
        <p:spPr>
          <a:xfrm>
            <a:off x="3694176" y="1572768"/>
            <a:ext cx="256032" cy="0"/>
          </a:xfrm>
          <a:prstGeom prst="line">
            <a:avLst/>
          </a:prstGeom>
          <a:noFill/>
          <a:ln w="19050">
            <a:solidFill>
              <a:schemeClr val="accent1"/>
            </a:solidFill>
            <a:prstDash val="solid"/>
          </a:ln>
        </p:spPr>
      </p:sp>
      <p:sp>
        <p:nvSpPr>
          <p:cNvPr id="16" name="dot-13"/>
          <p:cNvSpPr/>
          <p:nvPr/>
        </p:nvSpPr>
        <p:spPr>
          <a:xfrm>
            <a:off x="3950208" y="1417320"/>
            <a:ext cx="310896" cy="310896"/>
          </a:xfrm>
          <a:prstGeom prst="ellipse">
            <a:avLst/>
          </a:prstGeom>
          <a:solidFill>
            <a:schemeClr val="accent1"/>
          </a:solidFill>
          <a:ln/>
        </p:spPr>
      </p:sp>
      <p:sp>
        <p:nvSpPr>
          <p:cNvPr id="17" name="dot-line-14"/>
          <p:cNvSpPr/>
          <p:nvPr/>
        </p:nvSpPr>
        <p:spPr>
          <a:xfrm>
            <a:off x="4261104" y="1572768"/>
            <a:ext cx="256032" cy="0"/>
          </a:xfrm>
          <a:prstGeom prst="line">
            <a:avLst/>
          </a:prstGeom>
          <a:noFill/>
          <a:ln w="19050">
            <a:solidFill>
              <a:schemeClr val="accent1"/>
            </a:solidFill>
            <a:prstDash val="solid"/>
          </a:ln>
        </p:spPr>
      </p:sp>
      <p:sp>
        <p:nvSpPr>
          <p:cNvPr id="18" name="dot-15"/>
          <p:cNvSpPr/>
          <p:nvPr/>
        </p:nvSpPr>
        <p:spPr>
          <a:xfrm>
            <a:off x="4517136" y="1417320"/>
            <a:ext cx="310896" cy="310896"/>
          </a:xfrm>
          <a:prstGeom prst="ellipse">
            <a:avLst/>
          </a:prstGeom>
          <a:solidFill>
            <a:schemeClr val="accent1"/>
          </a:solidFill>
          <a:ln/>
        </p:spPr>
      </p:sp>
      <p:sp>
        <p:nvSpPr>
          <p:cNvPr id="19" name="asof-16"/>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400" dirty="0">
                <a:solidFill>
                  <a:schemeClr val="bg2"/>
                </a:solidFill>
              </a:rPr>
              <a:t>All figures as of 04-Oct-2026, calculated by the app from its demo data</a:t>
            </a:r>
            <a:endParaRPr lang="en-US" sz="1400" dirty="0"/>
          </a:p>
        </p:txBody>
      </p:sp>
      <p:sp>
        <p:nvSpPr>
          <p:cNvPr id="20" name="link-17">
            <a:hlinkClick r:id="rId1" tooltip=""/>
          </p:cNvPr>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4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Live demo: adetivedesk.github.io/Maali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Every screen answers four money questions</a:t>
            </a:r>
            <a:endParaRPr lang="en-US" sz="3000" dirty="0"/>
          </a:p>
        </p:txBody>
      </p:sp>
      <p:sp>
        <p:nvSpPr>
          <p:cNvPr id="3" name="badge-18"/>
          <p:cNvSpPr/>
          <p:nvPr/>
        </p:nvSpPr>
        <p:spPr>
          <a:xfrm>
            <a:off x="548640" y="1371600"/>
            <a:ext cx="457200" cy="457200"/>
          </a:xfrm>
          <a:prstGeom prst="ellipse">
            <a:avLst/>
          </a:prstGeom>
          <a:solidFill>
            <a:schemeClr val="accent1"/>
          </a:solidFill>
          <a:ln/>
        </p:spPr>
      </p:sp>
      <p:sp>
        <p:nvSpPr>
          <p:cNvPr id="4" name="badge-n-19"/>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q-20"/>
          <p:cNvSpPr txBox="1"/>
          <p:nvPr/>
        </p:nvSpPr>
        <p:spPr>
          <a:xfrm>
            <a:off x="1115568" y="1325880"/>
            <a:ext cx="2000936" cy="548640"/>
          </a:xfrm>
          <a:prstGeom prst="rect">
            <a:avLst/>
          </a:prstGeom>
          <a:noFill/>
          <a:ln/>
        </p:spPr>
        <p:txBody>
          <a:bodyPr wrap="square" lIns="0" tIns="0" rIns="0" bIns="0" rtlCol="0" anchor="ctr"/>
          <a:lstStyle/>
          <a:p>
            <a:pPr indent="0" marL="0">
              <a:buNone/>
            </a:pPr>
            <a:r>
              <a:rPr lang="en-US" sz="1600" b="1" dirty="0">
                <a:solidFill>
                  <a:schemeClr val="tx2"/>
                </a:solidFill>
              </a:rPr>
              <a:t>How much was contracted?</a:t>
            </a:r>
            <a:endParaRPr lang="en-US" sz="1600" dirty="0"/>
          </a:p>
        </p:txBody>
      </p:sp>
      <p:sp>
        <p:nvSpPr>
          <p:cNvPr id="6" name="stat-bg-21"/>
          <p:cNvSpPr/>
          <p:nvPr/>
        </p:nvSpPr>
        <p:spPr>
          <a:xfrm>
            <a:off x="548640" y="2057400"/>
            <a:ext cx="2567864" cy="1828800"/>
          </a:xfrm>
          <a:prstGeom prst="roundRect">
            <a:avLst>
              <a:gd name="adj" fmla="val 5000"/>
            </a:avLst>
          </a:prstGeom>
          <a:solidFill>
            <a:schemeClr val="bg2"/>
          </a:solidFill>
          <a:ln/>
        </p:spPr>
      </p:sp>
      <p:sp>
        <p:nvSpPr>
          <p:cNvPr id="7" name="stat-l-22"/>
          <p:cNvSpPr txBox="1"/>
          <p:nvPr/>
        </p:nvSpPr>
        <p:spPr>
          <a:xfrm>
            <a:off x="731520" y="2194560"/>
            <a:ext cx="2202104"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CONTRACT VALUE</a:t>
            </a:r>
            <a:endParaRPr lang="en-US" sz="1100" dirty="0"/>
          </a:p>
        </p:txBody>
      </p:sp>
      <p:sp>
        <p:nvSpPr>
          <p:cNvPr id="8" name="stat-v-23"/>
          <p:cNvSpPr txBox="1"/>
          <p:nvPr/>
        </p:nvSpPr>
        <p:spPr>
          <a:xfrm>
            <a:off x="731520" y="2468880"/>
            <a:ext cx="2202104" cy="594360"/>
          </a:xfrm>
          <a:prstGeom prst="rect">
            <a:avLst/>
          </a:prstGeom>
          <a:noFill/>
          <a:ln/>
        </p:spPr>
        <p:txBody>
          <a:bodyPr wrap="square" lIns="0" tIns="0" rIns="0" bIns="0" rtlCol="0" anchor="ctr"/>
          <a:lstStyle/>
          <a:p>
            <a:pPr indent="0" marL="0">
              <a:buNone/>
            </a:pPr>
            <a:r>
              <a:rPr lang="en-US" sz="3000" b="1" dirty="0">
                <a:solidFill>
                  <a:schemeClr val="tx2"/>
                </a:solidFill>
              </a:rPr>
              <a:t>₹1.75 Cr</a:t>
            </a:r>
            <a:endParaRPr lang="en-US" sz="3000" dirty="0"/>
          </a:p>
        </p:txBody>
      </p:sp>
      <p:sp>
        <p:nvSpPr>
          <p:cNvPr id="9" name="stat-c-24"/>
          <p:cNvSpPr txBox="1"/>
          <p:nvPr/>
        </p:nvSpPr>
        <p:spPr>
          <a:xfrm>
            <a:off x="731520" y="3081528"/>
            <a:ext cx="2202104" cy="685800"/>
          </a:xfrm>
          <a:prstGeom prst="rect">
            <a:avLst/>
          </a:prstGeom>
          <a:noFill/>
          <a:ln/>
        </p:spPr>
        <p:txBody>
          <a:bodyPr wrap="square" lIns="0" tIns="0" rIns="0" bIns="0" rtlCol="0" anchor="t"/>
          <a:lstStyle/>
          <a:p>
            <a:pPr indent="0" marL="0">
              <a:buNone/>
            </a:pPr>
            <a:r>
              <a:rPr lang="en-US" sz="1200" dirty="0">
                <a:solidFill>
                  <a:schemeClr val="tx1"/>
                </a:solidFill>
              </a:rPr>
              <a:t>Original contracts + approved change orders across 3 projects</a:t>
            </a:r>
            <a:endParaRPr lang="en-US" sz="1200" dirty="0"/>
          </a:p>
        </p:txBody>
      </p:sp>
      <p:sp>
        <p:nvSpPr>
          <p:cNvPr id="10" name="badge-25"/>
          <p:cNvSpPr/>
          <p:nvPr/>
        </p:nvSpPr>
        <p:spPr>
          <a:xfrm>
            <a:off x="3390824" y="1371600"/>
            <a:ext cx="457200" cy="457200"/>
          </a:xfrm>
          <a:prstGeom prst="ellipse">
            <a:avLst/>
          </a:prstGeom>
          <a:solidFill>
            <a:schemeClr val="accent1"/>
          </a:solidFill>
          <a:ln/>
        </p:spPr>
      </p:sp>
      <p:sp>
        <p:nvSpPr>
          <p:cNvPr id="11" name="badge-n-26"/>
          <p:cNvSpPr txBox="1"/>
          <p:nvPr/>
        </p:nvSpPr>
        <p:spPr>
          <a:xfrm>
            <a:off x="3390824" y="1371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2" name="q-27"/>
          <p:cNvSpPr txBox="1"/>
          <p:nvPr/>
        </p:nvSpPr>
        <p:spPr>
          <a:xfrm>
            <a:off x="3957752" y="1325880"/>
            <a:ext cx="2000936" cy="548640"/>
          </a:xfrm>
          <a:prstGeom prst="rect">
            <a:avLst/>
          </a:prstGeom>
          <a:noFill/>
          <a:ln/>
        </p:spPr>
        <p:txBody>
          <a:bodyPr wrap="square" lIns="0" tIns="0" rIns="0" bIns="0" rtlCol="0" anchor="ctr"/>
          <a:lstStyle/>
          <a:p>
            <a:pPr indent="0" marL="0">
              <a:buNone/>
            </a:pPr>
            <a:r>
              <a:rPr lang="en-US" sz="1600" b="1" dirty="0">
                <a:solidFill>
                  <a:schemeClr val="tx2"/>
                </a:solidFill>
              </a:rPr>
              <a:t>How much was received?</a:t>
            </a:r>
            <a:endParaRPr lang="en-US" sz="1600" dirty="0"/>
          </a:p>
        </p:txBody>
      </p:sp>
      <p:sp>
        <p:nvSpPr>
          <p:cNvPr id="13" name="stat-bg-28"/>
          <p:cNvSpPr/>
          <p:nvPr/>
        </p:nvSpPr>
        <p:spPr>
          <a:xfrm>
            <a:off x="3390824" y="2057400"/>
            <a:ext cx="2567864" cy="1828800"/>
          </a:xfrm>
          <a:prstGeom prst="roundRect">
            <a:avLst>
              <a:gd name="adj" fmla="val 5000"/>
            </a:avLst>
          </a:prstGeom>
          <a:solidFill>
            <a:schemeClr val="bg2"/>
          </a:solidFill>
          <a:ln/>
        </p:spPr>
      </p:sp>
      <p:sp>
        <p:nvSpPr>
          <p:cNvPr id="14" name="stat-l-29"/>
          <p:cNvSpPr txBox="1"/>
          <p:nvPr/>
        </p:nvSpPr>
        <p:spPr>
          <a:xfrm>
            <a:off x="3573704" y="2194560"/>
            <a:ext cx="2202104"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RECEIVED</a:t>
            </a:r>
            <a:endParaRPr lang="en-US" sz="1100" dirty="0"/>
          </a:p>
        </p:txBody>
      </p:sp>
      <p:sp>
        <p:nvSpPr>
          <p:cNvPr id="15" name="stat-v-30"/>
          <p:cNvSpPr txBox="1"/>
          <p:nvPr/>
        </p:nvSpPr>
        <p:spPr>
          <a:xfrm>
            <a:off x="3573704" y="2468880"/>
            <a:ext cx="2202104" cy="594360"/>
          </a:xfrm>
          <a:prstGeom prst="rect">
            <a:avLst/>
          </a:prstGeom>
          <a:noFill/>
          <a:ln/>
        </p:spPr>
        <p:txBody>
          <a:bodyPr wrap="square" lIns="0" tIns="0" rIns="0" bIns="0" rtlCol="0" anchor="ctr"/>
          <a:lstStyle/>
          <a:p>
            <a:pPr indent="0" marL="0">
              <a:buNone/>
            </a:pPr>
            <a:r>
              <a:rPr lang="en-US" sz="3000" b="1" dirty="0">
                <a:solidFill>
                  <a:schemeClr val="accent3"/>
                </a:solidFill>
              </a:rPr>
              <a:t>₹60.50 L</a:t>
            </a:r>
            <a:endParaRPr lang="en-US" sz="3000" dirty="0"/>
          </a:p>
        </p:txBody>
      </p:sp>
      <p:sp>
        <p:nvSpPr>
          <p:cNvPr id="16" name="stat-c-31"/>
          <p:cNvSpPr txBox="1"/>
          <p:nvPr/>
        </p:nvSpPr>
        <p:spPr>
          <a:xfrm>
            <a:off x="3573704" y="3081528"/>
            <a:ext cx="2202104" cy="685800"/>
          </a:xfrm>
          <a:prstGeom prst="rect">
            <a:avLst/>
          </a:prstGeom>
          <a:noFill/>
          <a:ln/>
        </p:spPr>
        <p:txBody>
          <a:bodyPr wrap="square" lIns="0" tIns="0" rIns="0" bIns="0" rtlCol="0" anchor="t"/>
          <a:lstStyle/>
          <a:p>
            <a:pPr indent="0" marL="0">
              <a:buNone/>
            </a:pPr>
            <a:r>
              <a:rPr lang="en-US" sz="1200" dirty="0">
                <a:solidFill>
                  <a:schemeClr val="tx1"/>
                </a:solidFill>
              </a:rPr>
              <a:t>Client payments collected, out of ₹74.50 L billed</a:t>
            </a:r>
            <a:endParaRPr lang="en-US" sz="1200" dirty="0"/>
          </a:p>
        </p:txBody>
      </p:sp>
      <p:sp>
        <p:nvSpPr>
          <p:cNvPr id="17" name="badge-32"/>
          <p:cNvSpPr/>
          <p:nvPr/>
        </p:nvSpPr>
        <p:spPr>
          <a:xfrm>
            <a:off x="6233008" y="1371600"/>
            <a:ext cx="457200" cy="457200"/>
          </a:xfrm>
          <a:prstGeom prst="ellipse">
            <a:avLst/>
          </a:prstGeom>
          <a:solidFill>
            <a:schemeClr val="accent1"/>
          </a:solidFill>
          <a:ln/>
        </p:spPr>
      </p:sp>
      <p:sp>
        <p:nvSpPr>
          <p:cNvPr id="18" name="badge-n-33"/>
          <p:cNvSpPr txBox="1"/>
          <p:nvPr/>
        </p:nvSpPr>
        <p:spPr>
          <a:xfrm>
            <a:off x="6233008" y="1371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9" name="q-34"/>
          <p:cNvSpPr txBox="1"/>
          <p:nvPr/>
        </p:nvSpPr>
        <p:spPr>
          <a:xfrm>
            <a:off x="6799936" y="1325880"/>
            <a:ext cx="2000936" cy="548640"/>
          </a:xfrm>
          <a:prstGeom prst="rect">
            <a:avLst/>
          </a:prstGeom>
          <a:noFill/>
          <a:ln/>
        </p:spPr>
        <p:txBody>
          <a:bodyPr wrap="square" lIns="0" tIns="0" rIns="0" bIns="0" rtlCol="0" anchor="ctr"/>
          <a:lstStyle/>
          <a:p>
            <a:pPr indent="0" marL="0">
              <a:buNone/>
            </a:pPr>
            <a:r>
              <a:rPr lang="en-US" sz="1600" b="1" dirty="0">
                <a:solidFill>
                  <a:schemeClr val="tx2"/>
                </a:solidFill>
              </a:rPr>
              <a:t>How much was spent?</a:t>
            </a:r>
            <a:endParaRPr lang="en-US" sz="1600" dirty="0"/>
          </a:p>
        </p:txBody>
      </p:sp>
      <p:sp>
        <p:nvSpPr>
          <p:cNvPr id="20" name="stat-bg-35"/>
          <p:cNvSpPr/>
          <p:nvPr/>
        </p:nvSpPr>
        <p:spPr>
          <a:xfrm>
            <a:off x="6233008" y="2057400"/>
            <a:ext cx="2567864" cy="1828800"/>
          </a:xfrm>
          <a:prstGeom prst="roundRect">
            <a:avLst>
              <a:gd name="adj" fmla="val 5000"/>
            </a:avLst>
          </a:prstGeom>
          <a:solidFill>
            <a:schemeClr val="bg2"/>
          </a:solidFill>
          <a:ln/>
        </p:spPr>
      </p:sp>
      <p:sp>
        <p:nvSpPr>
          <p:cNvPr id="21" name="stat-l-36"/>
          <p:cNvSpPr txBox="1"/>
          <p:nvPr/>
        </p:nvSpPr>
        <p:spPr>
          <a:xfrm>
            <a:off x="6415888" y="2194560"/>
            <a:ext cx="2202104"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ACTUAL COST</a:t>
            </a:r>
            <a:endParaRPr lang="en-US" sz="1100" dirty="0"/>
          </a:p>
        </p:txBody>
      </p:sp>
      <p:sp>
        <p:nvSpPr>
          <p:cNvPr id="22" name="stat-v-37"/>
          <p:cNvSpPr txBox="1"/>
          <p:nvPr/>
        </p:nvSpPr>
        <p:spPr>
          <a:xfrm>
            <a:off x="6415888" y="2468880"/>
            <a:ext cx="2202104" cy="594360"/>
          </a:xfrm>
          <a:prstGeom prst="rect">
            <a:avLst/>
          </a:prstGeom>
          <a:noFill/>
          <a:ln/>
        </p:spPr>
        <p:txBody>
          <a:bodyPr wrap="square" lIns="0" tIns="0" rIns="0" bIns="0" rtlCol="0" anchor="ctr"/>
          <a:lstStyle/>
          <a:p>
            <a:pPr indent="0" marL="0">
              <a:buNone/>
            </a:pPr>
            <a:r>
              <a:rPr lang="en-US" sz="3000" b="1" dirty="0">
                <a:solidFill>
                  <a:schemeClr val="tx2"/>
                </a:solidFill>
              </a:rPr>
              <a:t>₹66.37 L</a:t>
            </a:r>
            <a:endParaRPr lang="en-US" sz="3000" dirty="0"/>
          </a:p>
        </p:txBody>
      </p:sp>
      <p:sp>
        <p:nvSpPr>
          <p:cNvPr id="23" name="stat-c-38"/>
          <p:cNvSpPr txBox="1"/>
          <p:nvPr/>
        </p:nvSpPr>
        <p:spPr>
          <a:xfrm>
            <a:off x="6415888" y="3081528"/>
            <a:ext cx="2202104" cy="685800"/>
          </a:xfrm>
          <a:prstGeom prst="rect">
            <a:avLst/>
          </a:prstGeom>
          <a:noFill/>
          <a:ln/>
        </p:spPr>
        <p:txBody>
          <a:bodyPr wrap="square" lIns="0" tIns="0" rIns="0" bIns="0" rtlCol="0" anchor="t"/>
          <a:lstStyle/>
          <a:p>
            <a:pPr indent="0" marL="0">
              <a:buNone/>
            </a:pPr>
            <a:r>
              <a:rPr lang="en-US" sz="1200" dirty="0">
                <a:solidFill>
                  <a:schemeClr val="tx1"/>
                </a:solidFill>
              </a:rPr>
              <a:t>Cost booked to phases; ₹16.51 L is on unfinished work</a:t>
            </a:r>
            <a:endParaRPr lang="en-US" sz="1200" dirty="0"/>
          </a:p>
        </p:txBody>
      </p:sp>
      <p:sp>
        <p:nvSpPr>
          <p:cNvPr id="24" name="badge-39"/>
          <p:cNvSpPr/>
          <p:nvPr/>
        </p:nvSpPr>
        <p:spPr>
          <a:xfrm>
            <a:off x="9075191" y="1371600"/>
            <a:ext cx="457200" cy="457200"/>
          </a:xfrm>
          <a:prstGeom prst="ellipse">
            <a:avLst/>
          </a:prstGeom>
          <a:solidFill>
            <a:schemeClr val="accent1"/>
          </a:solidFill>
          <a:ln/>
        </p:spPr>
      </p:sp>
      <p:sp>
        <p:nvSpPr>
          <p:cNvPr id="25" name="badge-n-40"/>
          <p:cNvSpPr txBox="1"/>
          <p:nvPr/>
        </p:nvSpPr>
        <p:spPr>
          <a:xfrm>
            <a:off x="9075191" y="13716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6" name="q-41"/>
          <p:cNvSpPr txBox="1"/>
          <p:nvPr/>
        </p:nvSpPr>
        <p:spPr>
          <a:xfrm>
            <a:off x="9642119" y="1325880"/>
            <a:ext cx="2000936" cy="548640"/>
          </a:xfrm>
          <a:prstGeom prst="rect">
            <a:avLst/>
          </a:prstGeom>
          <a:noFill/>
          <a:ln/>
        </p:spPr>
        <p:txBody>
          <a:bodyPr wrap="square" lIns="0" tIns="0" rIns="0" bIns="0" rtlCol="0" anchor="ctr"/>
          <a:lstStyle/>
          <a:p>
            <a:pPr indent="0" marL="0">
              <a:buNone/>
            </a:pPr>
            <a:r>
              <a:rPr lang="en-US" sz="1600" b="1" dirty="0">
                <a:solidFill>
                  <a:schemeClr val="tx2"/>
                </a:solidFill>
              </a:rPr>
              <a:t>How much profit was made?</a:t>
            </a:r>
            <a:endParaRPr lang="en-US" sz="1600" dirty="0"/>
          </a:p>
        </p:txBody>
      </p:sp>
      <p:sp>
        <p:nvSpPr>
          <p:cNvPr id="27" name="stat-bg-42"/>
          <p:cNvSpPr/>
          <p:nvPr/>
        </p:nvSpPr>
        <p:spPr>
          <a:xfrm>
            <a:off x="9075191" y="2057400"/>
            <a:ext cx="2567864" cy="1828800"/>
          </a:xfrm>
          <a:prstGeom prst="roundRect">
            <a:avLst>
              <a:gd name="adj" fmla="val 5000"/>
            </a:avLst>
          </a:prstGeom>
          <a:solidFill>
            <a:schemeClr val="bg2"/>
          </a:solidFill>
          <a:ln/>
        </p:spPr>
      </p:sp>
      <p:sp>
        <p:nvSpPr>
          <p:cNvPr id="28" name="stat-l-43"/>
          <p:cNvSpPr txBox="1"/>
          <p:nvPr/>
        </p:nvSpPr>
        <p:spPr>
          <a:xfrm>
            <a:off x="9258071" y="2194560"/>
            <a:ext cx="2202104"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ACTUAL PROFIT</a:t>
            </a:r>
            <a:endParaRPr lang="en-US" sz="1100" dirty="0"/>
          </a:p>
        </p:txBody>
      </p:sp>
      <p:sp>
        <p:nvSpPr>
          <p:cNvPr id="29" name="stat-v-44"/>
          <p:cNvSpPr txBox="1"/>
          <p:nvPr/>
        </p:nvSpPr>
        <p:spPr>
          <a:xfrm>
            <a:off x="9258071" y="2468880"/>
            <a:ext cx="2202104" cy="594360"/>
          </a:xfrm>
          <a:prstGeom prst="rect">
            <a:avLst/>
          </a:prstGeom>
          <a:noFill/>
          <a:ln/>
        </p:spPr>
        <p:txBody>
          <a:bodyPr wrap="square" lIns="0" tIns="0" rIns="0" bIns="0" rtlCol="0" anchor="ctr"/>
          <a:lstStyle/>
          <a:p>
            <a:pPr indent="0" marL="0">
              <a:buNone/>
            </a:pPr>
            <a:r>
              <a:rPr lang="en-US" sz="3000" b="1" dirty="0">
                <a:solidFill>
                  <a:schemeClr val="accent3"/>
                </a:solidFill>
              </a:rPr>
              <a:t>₹26.14 L</a:t>
            </a:r>
            <a:endParaRPr lang="en-US" sz="3000" dirty="0"/>
          </a:p>
        </p:txBody>
      </p:sp>
      <p:sp>
        <p:nvSpPr>
          <p:cNvPr id="30" name="stat-c-45"/>
          <p:cNvSpPr txBox="1"/>
          <p:nvPr/>
        </p:nvSpPr>
        <p:spPr>
          <a:xfrm>
            <a:off x="9258071" y="3081528"/>
            <a:ext cx="2202104" cy="685800"/>
          </a:xfrm>
          <a:prstGeom prst="rect">
            <a:avLst/>
          </a:prstGeom>
          <a:noFill/>
          <a:ln/>
        </p:spPr>
        <p:txBody>
          <a:bodyPr wrap="square" lIns="0" tIns="0" rIns="0" bIns="0" rtlCol="0" anchor="t"/>
          <a:lstStyle/>
          <a:p>
            <a:pPr indent="0" marL="0">
              <a:buNone/>
            </a:pPr>
            <a:r>
              <a:rPr lang="en-US" sz="1200" dirty="0">
                <a:solidFill>
                  <a:schemeClr val="tx1"/>
                </a:solidFill>
              </a:rPr>
              <a:t>On completed phases (34.4%); forecast ₹59.34 L at completion</a:t>
            </a:r>
            <a:endParaRPr lang="en-US" sz="1200" dirty="0"/>
          </a:p>
        </p:txBody>
      </p:sp>
      <p:sp>
        <p:nvSpPr>
          <p:cNvPr id="31" name="owe-box-46"/>
          <p:cNvSpPr/>
          <p:nvPr/>
        </p:nvSpPr>
        <p:spPr>
          <a:xfrm>
            <a:off x="548640" y="4343400"/>
            <a:ext cx="11094415" cy="1417320"/>
          </a:xfrm>
          <a:prstGeom prst="roundRect">
            <a:avLst>
              <a:gd name="adj" fmla="val 6452"/>
            </a:avLst>
          </a:prstGeom>
          <a:solidFill>
            <a:schemeClr val="bg1"/>
          </a:solidFill>
          <a:ln w="12700">
            <a:solidFill>
              <a:srgbClr val="D5DCE6"/>
            </a:solidFill>
            <a:prstDash val="solid"/>
          </a:ln>
        </p:spPr>
      </p:sp>
      <p:sp>
        <p:nvSpPr>
          <p:cNvPr id="32" name="owe-h-47"/>
          <p:cNvSpPr txBox="1"/>
          <p:nvPr/>
        </p:nvSpPr>
        <p:spPr>
          <a:xfrm>
            <a:off x="822960" y="4480560"/>
            <a:ext cx="4572000" cy="365760"/>
          </a:xfrm>
          <a:prstGeom prst="rect">
            <a:avLst/>
          </a:prstGeom>
          <a:noFill/>
          <a:ln/>
        </p:spPr>
        <p:txBody>
          <a:bodyPr wrap="square" lIns="0" tIns="0" rIns="0" bIns="0" rtlCol="0" anchor="ctr"/>
          <a:lstStyle/>
          <a:p>
            <a:pPr indent="0" marL="0">
              <a:buNone/>
            </a:pPr>
            <a:r>
              <a:rPr lang="en-US" sz="1600" b="1" dirty="0">
                <a:solidFill>
                  <a:schemeClr val="tx2"/>
                </a:solidFill>
              </a:rPr>
              <a:t>And what is still open</a:t>
            </a:r>
            <a:endParaRPr lang="en-US" sz="1600" dirty="0"/>
          </a:p>
        </p:txBody>
      </p:sp>
      <p:sp>
        <p:nvSpPr>
          <p:cNvPr id="33" name="owe-1-48"/>
          <p:cNvSpPr txBox="1"/>
          <p:nvPr/>
        </p:nvSpPr>
        <p:spPr>
          <a:xfrm>
            <a:off x="822960" y="4892040"/>
            <a:ext cx="10515600" cy="411480"/>
          </a:xfrm>
          <a:prstGeom prst="rect">
            <a:avLst/>
          </a:prstGeom>
          <a:noFill/>
          <a:ln/>
        </p:spPr>
        <p:txBody>
          <a:bodyPr wrap="square" lIns="0" tIns="0" rIns="0" bIns="0" rtlCol="0" anchor="ctr"/>
          <a:lstStyle/>
          <a:p>
            <a:pPr indent="0" marL="0">
              <a:buNone/>
            </a:pPr>
            <a:r>
              <a:rPr lang="en-US" sz="1400" dirty="0">
                <a:solidFill>
                  <a:schemeClr val="tx1"/>
                </a:solidFill>
              </a:rPr>
              <a:t>Client receivable  </a:t>
            </a:r>
            <a:pPr indent="0" marL="0">
              <a:buNone/>
            </a:pPr>
            <a:r>
              <a:rPr lang="en-US" sz="2200" b="1" dirty="0">
                <a:solidFill>
                  <a:schemeClr val="accent5"/>
                </a:solidFill>
              </a:rPr>
              <a:t>₹14.00 L</a:t>
            </a:r>
            <a:pPr indent="0" marL="0">
              <a:buNone/>
            </a:pPr>
            <a:r>
              <a:rPr lang="en-US" sz="1400" dirty="0">
                <a:solidFill>
                  <a:schemeClr val="tx1"/>
                </a:solidFill>
              </a:rPr>
              <a:t>   billed but not yet received (₹2.00 L overdue)</a:t>
            </a:r>
            <a:endParaRPr lang="en-US" sz="1400" dirty="0"/>
          </a:p>
        </p:txBody>
      </p:sp>
      <p:sp>
        <p:nvSpPr>
          <p:cNvPr id="34" name="owe-2-49"/>
          <p:cNvSpPr txBox="1"/>
          <p:nvPr/>
        </p:nvSpPr>
        <p:spPr>
          <a:xfrm>
            <a:off x="822960" y="5349240"/>
            <a:ext cx="10515600" cy="411480"/>
          </a:xfrm>
          <a:prstGeom prst="rect">
            <a:avLst/>
          </a:prstGeom>
          <a:noFill/>
          <a:ln/>
        </p:spPr>
        <p:txBody>
          <a:bodyPr wrap="square" lIns="0" tIns="0" rIns="0" bIns="0" rtlCol="0" anchor="ctr"/>
          <a:lstStyle/>
          <a:p>
            <a:pPr indent="0" marL="0">
              <a:buNone/>
            </a:pPr>
            <a:r>
              <a:rPr lang="en-US" sz="1400" dirty="0">
                <a:solidFill>
                  <a:schemeClr val="tx1"/>
                </a:solidFill>
              </a:rPr>
              <a:t>Supplier payable  </a:t>
            </a:r>
            <a:pPr indent="0" marL="0">
              <a:buNone/>
            </a:pPr>
            <a:r>
              <a:rPr lang="en-US" sz="2200" b="1" dirty="0">
                <a:solidFill>
                  <a:schemeClr val="accent4"/>
                </a:solidFill>
              </a:rPr>
              <a:t>₹15.04 L</a:t>
            </a:r>
            <a:pPr indent="0" marL="0">
              <a:buNone/>
            </a:pPr>
            <a:r>
              <a:rPr lang="en-US" sz="1400" dirty="0">
                <a:solidFill>
                  <a:schemeClr val="tx1"/>
                </a:solidFill>
              </a:rPr>
              <a:t>   supplier invoices not yet paid (₹4.96 L overdue)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Eight connected steps take a project from quote to closure</a:t>
            </a:r>
            <a:endParaRPr lang="en-US" sz="3000" dirty="0"/>
          </a:p>
        </p:txBody>
      </p:sp>
      <p:sp>
        <p:nvSpPr>
          <p:cNvPr id="3" name="flow-50"/>
          <p:cNvSpPr/>
          <p:nvPr/>
        </p:nvSpPr>
        <p:spPr>
          <a:xfrm>
            <a:off x="1607801" y="1965960"/>
            <a:ext cx="655282" cy="0"/>
          </a:xfrm>
          <a:prstGeom prst="line">
            <a:avLst/>
          </a:prstGeom>
          <a:noFill/>
          <a:ln w="25400">
            <a:solidFill>
              <a:schemeClr val="accent1"/>
            </a:solidFill>
            <a:prstDash val="solid"/>
            <a:tailEnd type="triangle"/>
          </a:ln>
        </p:spPr>
      </p:sp>
      <p:sp>
        <p:nvSpPr>
          <p:cNvPr id="4" name="badge-51"/>
          <p:cNvSpPr/>
          <p:nvPr/>
        </p:nvSpPr>
        <p:spPr>
          <a:xfrm>
            <a:off x="876281" y="1600200"/>
            <a:ext cx="731520" cy="731520"/>
          </a:xfrm>
          <a:prstGeom prst="ellipse">
            <a:avLst/>
          </a:prstGeom>
          <a:solidFill>
            <a:schemeClr val="accent1"/>
          </a:solidFill>
          <a:ln/>
        </p:spPr>
      </p:sp>
      <p:sp>
        <p:nvSpPr>
          <p:cNvPr id="5" name="badge-n-52"/>
          <p:cNvSpPr txBox="1"/>
          <p:nvPr/>
        </p:nvSpPr>
        <p:spPr>
          <a:xfrm>
            <a:off x="876281"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6" name="flow-h-53"/>
          <p:cNvSpPr txBox="1"/>
          <p:nvPr/>
        </p:nvSpPr>
        <p:spPr>
          <a:xfrm>
            <a:off x="594360"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Quote</a:t>
            </a:r>
            <a:endParaRPr lang="en-US" sz="1700" dirty="0"/>
          </a:p>
        </p:txBody>
      </p:sp>
      <p:sp>
        <p:nvSpPr>
          <p:cNvPr id="7" name="flow-b-54"/>
          <p:cNvSpPr txBox="1"/>
          <p:nvPr/>
        </p:nvSpPr>
        <p:spPr>
          <a:xfrm>
            <a:off x="621792"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Price the work phase by phase; estimated cost becomes the budget</a:t>
            </a:r>
            <a:endParaRPr lang="en-US" sz="1200" dirty="0"/>
          </a:p>
        </p:txBody>
      </p:sp>
      <p:sp>
        <p:nvSpPr>
          <p:cNvPr id="8" name="flow-55"/>
          <p:cNvSpPr/>
          <p:nvPr/>
        </p:nvSpPr>
        <p:spPr>
          <a:xfrm>
            <a:off x="2994603" y="1965960"/>
            <a:ext cx="655282" cy="0"/>
          </a:xfrm>
          <a:prstGeom prst="line">
            <a:avLst/>
          </a:prstGeom>
          <a:noFill/>
          <a:ln w="25400">
            <a:solidFill>
              <a:schemeClr val="accent1"/>
            </a:solidFill>
            <a:prstDash val="solid"/>
            <a:tailEnd type="triangle"/>
          </a:ln>
        </p:spPr>
      </p:sp>
      <p:sp>
        <p:nvSpPr>
          <p:cNvPr id="9" name="badge-56"/>
          <p:cNvSpPr/>
          <p:nvPr/>
        </p:nvSpPr>
        <p:spPr>
          <a:xfrm>
            <a:off x="2263083" y="1600200"/>
            <a:ext cx="731520" cy="731520"/>
          </a:xfrm>
          <a:prstGeom prst="ellipse">
            <a:avLst/>
          </a:prstGeom>
          <a:solidFill>
            <a:schemeClr val="accent1"/>
          </a:solidFill>
          <a:ln/>
        </p:spPr>
      </p:sp>
      <p:sp>
        <p:nvSpPr>
          <p:cNvPr id="10" name="badge-n-57"/>
          <p:cNvSpPr txBox="1"/>
          <p:nvPr/>
        </p:nvSpPr>
        <p:spPr>
          <a:xfrm>
            <a:off x="2263083"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11" name="flow-h-58"/>
          <p:cNvSpPr txBox="1"/>
          <p:nvPr/>
        </p:nvSpPr>
        <p:spPr>
          <a:xfrm>
            <a:off x="1981162"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Contract</a:t>
            </a:r>
            <a:endParaRPr lang="en-US" sz="1700" dirty="0"/>
          </a:p>
        </p:txBody>
      </p:sp>
      <p:sp>
        <p:nvSpPr>
          <p:cNvPr id="12" name="flow-b-59"/>
          <p:cNvSpPr txBox="1"/>
          <p:nvPr/>
        </p:nvSpPr>
        <p:spPr>
          <a:xfrm>
            <a:off x="2008594"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Upload the signed contract to make the project Active</a:t>
            </a:r>
            <a:endParaRPr lang="en-US" sz="1200" dirty="0"/>
          </a:p>
        </p:txBody>
      </p:sp>
      <p:sp>
        <p:nvSpPr>
          <p:cNvPr id="13" name="flow-60"/>
          <p:cNvSpPr/>
          <p:nvPr/>
        </p:nvSpPr>
        <p:spPr>
          <a:xfrm>
            <a:off x="4381405" y="1965960"/>
            <a:ext cx="655282" cy="0"/>
          </a:xfrm>
          <a:prstGeom prst="line">
            <a:avLst/>
          </a:prstGeom>
          <a:noFill/>
          <a:ln w="25400">
            <a:solidFill>
              <a:schemeClr val="accent1"/>
            </a:solidFill>
            <a:prstDash val="solid"/>
            <a:tailEnd type="triangle"/>
          </a:ln>
        </p:spPr>
      </p:sp>
      <p:sp>
        <p:nvSpPr>
          <p:cNvPr id="14" name="badge-61"/>
          <p:cNvSpPr/>
          <p:nvPr/>
        </p:nvSpPr>
        <p:spPr>
          <a:xfrm>
            <a:off x="3649885" y="1600200"/>
            <a:ext cx="731520" cy="731520"/>
          </a:xfrm>
          <a:prstGeom prst="ellipse">
            <a:avLst/>
          </a:prstGeom>
          <a:solidFill>
            <a:schemeClr val="accent1"/>
          </a:solidFill>
          <a:ln/>
        </p:spPr>
      </p:sp>
      <p:sp>
        <p:nvSpPr>
          <p:cNvPr id="15" name="badge-n-62"/>
          <p:cNvSpPr txBox="1"/>
          <p:nvPr/>
        </p:nvSpPr>
        <p:spPr>
          <a:xfrm>
            <a:off x="3649885"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6" name="flow-h-63"/>
          <p:cNvSpPr txBox="1"/>
          <p:nvPr/>
        </p:nvSpPr>
        <p:spPr>
          <a:xfrm>
            <a:off x="3367964"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Phases</a:t>
            </a:r>
            <a:endParaRPr lang="en-US" sz="1700" dirty="0"/>
          </a:p>
        </p:txBody>
      </p:sp>
      <p:sp>
        <p:nvSpPr>
          <p:cNvPr id="17" name="flow-b-64"/>
          <p:cNvSpPr txBox="1"/>
          <p:nvPr/>
        </p:nvSpPr>
        <p:spPr>
          <a:xfrm>
            <a:off x="3395396"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Set phase budgets, then track status and % progress</a:t>
            </a:r>
            <a:endParaRPr lang="en-US" sz="1200" dirty="0"/>
          </a:p>
        </p:txBody>
      </p:sp>
      <p:sp>
        <p:nvSpPr>
          <p:cNvPr id="18" name="flow-65"/>
          <p:cNvSpPr/>
          <p:nvPr/>
        </p:nvSpPr>
        <p:spPr>
          <a:xfrm>
            <a:off x="5768207" y="1965960"/>
            <a:ext cx="655282" cy="0"/>
          </a:xfrm>
          <a:prstGeom prst="line">
            <a:avLst/>
          </a:prstGeom>
          <a:noFill/>
          <a:ln w="25400">
            <a:solidFill>
              <a:schemeClr val="accent1"/>
            </a:solidFill>
            <a:prstDash val="solid"/>
            <a:tailEnd type="triangle"/>
          </a:ln>
        </p:spPr>
      </p:sp>
      <p:sp>
        <p:nvSpPr>
          <p:cNvPr id="19" name="badge-66"/>
          <p:cNvSpPr/>
          <p:nvPr/>
        </p:nvSpPr>
        <p:spPr>
          <a:xfrm>
            <a:off x="5036687" y="1600200"/>
            <a:ext cx="731520" cy="731520"/>
          </a:xfrm>
          <a:prstGeom prst="ellipse">
            <a:avLst/>
          </a:prstGeom>
          <a:solidFill>
            <a:schemeClr val="accent1"/>
          </a:solidFill>
          <a:ln/>
        </p:spPr>
      </p:sp>
      <p:sp>
        <p:nvSpPr>
          <p:cNvPr id="20" name="badge-n-67"/>
          <p:cNvSpPr txBox="1"/>
          <p:nvPr/>
        </p:nvSpPr>
        <p:spPr>
          <a:xfrm>
            <a:off x="5036687"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21" name="flow-h-68"/>
          <p:cNvSpPr txBox="1"/>
          <p:nvPr/>
        </p:nvSpPr>
        <p:spPr>
          <a:xfrm>
            <a:off x="4754766"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Cost</a:t>
            </a:r>
            <a:endParaRPr lang="en-US" sz="1700" dirty="0"/>
          </a:p>
        </p:txBody>
      </p:sp>
      <p:sp>
        <p:nvSpPr>
          <p:cNvPr id="22" name="flow-b-69"/>
          <p:cNvSpPr txBox="1"/>
          <p:nvPr/>
        </p:nvSpPr>
        <p:spPr>
          <a:xfrm>
            <a:off x="4782198"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Book material, own labour and outsourced work to a phase</a:t>
            </a:r>
            <a:endParaRPr lang="en-US" sz="1200" dirty="0"/>
          </a:p>
        </p:txBody>
      </p:sp>
      <p:sp>
        <p:nvSpPr>
          <p:cNvPr id="23" name="flow-70"/>
          <p:cNvSpPr/>
          <p:nvPr/>
        </p:nvSpPr>
        <p:spPr>
          <a:xfrm>
            <a:off x="7155009" y="1965960"/>
            <a:ext cx="655282" cy="0"/>
          </a:xfrm>
          <a:prstGeom prst="line">
            <a:avLst/>
          </a:prstGeom>
          <a:noFill/>
          <a:ln w="25400">
            <a:solidFill>
              <a:schemeClr val="accent1"/>
            </a:solidFill>
            <a:prstDash val="solid"/>
            <a:tailEnd type="triangle"/>
          </a:ln>
        </p:spPr>
      </p:sp>
      <p:sp>
        <p:nvSpPr>
          <p:cNvPr id="24" name="badge-71"/>
          <p:cNvSpPr/>
          <p:nvPr/>
        </p:nvSpPr>
        <p:spPr>
          <a:xfrm>
            <a:off x="6423489" y="1600200"/>
            <a:ext cx="731520" cy="731520"/>
          </a:xfrm>
          <a:prstGeom prst="ellipse">
            <a:avLst/>
          </a:prstGeom>
          <a:solidFill>
            <a:schemeClr val="accent1"/>
          </a:solidFill>
          <a:ln/>
        </p:spPr>
      </p:sp>
      <p:sp>
        <p:nvSpPr>
          <p:cNvPr id="25" name="badge-n-72"/>
          <p:cNvSpPr txBox="1"/>
          <p:nvPr/>
        </p:nvSpPr>
        <p:spPr>
          <a:xfrm>
            <a:off x="6423489"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26" name="flow-h-73"/>
          <p:cNvSpPr txBox="1"/>
          <p:nvPr/>
        </p:nvSpPr>
        <p:spPr>
          <a:xfrm>
            <a:off x="6141568"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Billing</a:t>
            </a:r>
            <a:endParaRPr lang="en-US" sz="1700" dirty="0"/>
          </a:p>
        </p:txBody>
      </p:sp>
      <p:sp>
        <p:nvSpPr>
          <p:cNvPr id="27" name="flow-b-74"/>
          <p:cNvSpPr txBox="1"/>
          <p:nvPr/>
        </p:nvSpPr>
        <p:spPr>
          <a:xfrm>
            <a:off x="6169000"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Invoice a phase in full, or as running bills</a:t>
            </a:r>
            <a:endParaRPr lang="en-US" sz="1200" dirty="0"/>
          </a:p>
        </p:txBody>
      </p:sp>
      <p:sp>
        <p:nvSpPr>
          <p:cNvPr id="28" name="flow-75"/>
          <p:cNvSpPr/>
          <p:nvPr/>
        </p:nvSpPr>
        <p:spPr>
          <a:xfrm>
            <a:off x="8541810" y="1965960"/>
            <a:ext cx="655282" cy="0"/>
          </a:xfrm>
          <a:prstGeom prst="line">
            <a:avLst/>
          </a:prstGeom>
          <a:noFill/>
          <a:ln w="25400">
            <a:solidFill>
              <a:schemeClr val="accent1"/>
            </a:solidFill>
            <a:prstDash val="solid"/>
            <a:tailEnd type="triangle"/>
          </a:ln>
        </p:spPr>
      </p:sp>
      <p:sp>
        <p:nvSpPr>
          <p:cNvPr id="29" name="badge-76"/>
          <p:cNvSpPr/>
          <p:nvPr/>
        </p:nvSpPr>
        <p:spPr>
          <a:xfrm>
            <a:off x="7810290" y="1600200"/>
            <a:ext cx="731520" cy="731520"/>
          </a:xfrm>
          <a:prstGeom prst="ellipse">
            <a:avLst/>
          </a:prstGeom>
          <a:solidFill>
            <a:schemeClr val="accent1"/>
          </a:solidFill>
          <a:ln/>
        </p:spPr>
      </p:sp>
      <p:sp>
        <p:nvSpPr>
          <p:cNvPr id="30" name="badge-n-77"/>
          <p:cNvSpPr txBox="1"/>
          <p:nvPr/>
        </p:nvSpPr>
        <p:spPr>
          <a:xfrm>
            <a:off x="7810290"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6</a:t>
            </a:r>
            <a:endParaRPr lang="en-US" sz="2200" dirty="0"/>
          </a:p>
        </p:txBody>
      </p:sp>
      <p:sp>
        <p:nvSpPr>
          <p:cNvPr id="31" name="flow-h-78"/>
          <p:cNvSpPr txBox="1"/>
          <p:nvPr/>
        </p:nvSpPr>
        <p:spPr>
          <a:xfrm>
            <a:off x="7528370"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Payment</a:t>
            </a:r>
            <a:endParaRPr lang="en-US" sz="1700" dirty="0"/>
          </a:p>
        </p:txBody>
      </p:sp>
      <p:sp>
        <p:nvSpPr>
          <p:cNvPr id="32" name="flow-b-79"/>
          <p:cNvSpPr txBox="1"/>
          <p:nvPr/>
        </p:nvSpPr>
        <p:spPr>
          <a:xfrm>
            <a:off x="7555802"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Record client receipts and supplier payments</a:t>
            </a:r>
            <a:endParaRPr lang="en-US" sz="1200" dirty="0"/>
          </a:p>
        </p:txBody>
      </p:sp>
      <p:sp>
        <p:nvSpPr>
          <p:cNvPr id="33" name="flow-80"/>
          <p:cNvSpPr/>
          <p:nvPr/>
        </p:nvSpPr>
        <p:spPr>
          <a:xfrm>
            <a:off x="9928612" y="1965960"/>
            <a:ext cx="655282" cy="0"/>
          </a:xfrm>
          <a:prstGeom prst="line">
            <a:avLst/>
          </a:prstGeom>
          <a:noFill/>
          <a:ln w="25400">
            <a:solidFill>
              <a:schemeClr val="accent1"/>
            </a:solidFill>
            <a:prstDash val="solid"/>
            <a:tailEnd type="triangle"/>
          </a:ln>
        </p:spPr>
      </p:sp>
      <p:sp>
        <p:nvSpPr>
          <p:cNvPr id="34" name="badge-81"/>
          <p:cNvSpPr/>
          <p:nvPr/>
        </p:nvSpPr>
        <p:spPr>
          <a:xfrm>
            <a:off x="9197092" y="1600200"/>
            <a:ext cx="731520" cy="731520"/>
          </a:xfrm>
          <a:prstGeom prst="ellipse">
            <a:avLst/>
          </a:prstGeom>
          <a:solidFill>
            <a:schemeClr val="accent1"/>
          </a:solidFill>
          <a:ln/>
        </p:spPr>
      </p:sp>
      <p:sp>
        <p:nvSpPr>
          <p:cNvPr id="35" name="badge-n-82"/>
          <p:cNvSpPr txBox="1"/>
          <p:nvPr/>
        </p:nvSpPr>
        <p:spPr>
          <a:xfrm>
            <a:off x="9197092"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7</a:t>
            </a:r>
            <a:endParaRPr lang="en-US" sz="2200" dirty="0"/>
          </a:p>
        </p:txBody>
      </p:sp>
      <p:sp>
        <p:nvSpPr>
          <p:cNvPr id="36" name="flow-h-83"/>
          <p:cNvSpPr txBox="1"/>
          <p:nvPr/>
        </p:nvSpPr>
        <p:spPr>
          <a:xfrm>
            <a:off x="8915171"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Profit</a:t>
            </a:r>
            <a:endParaRPr lang="en-US" sz="1700" dirty="0"/>
          </a:p>
        </p:txBody>
      </p:sp>
      <p:sp>
        <p:nvSpPr>
          <p:cNvPr id="37" name="flow-b-84"/>
          <p:cNvSpPr txBox="1"/>
          <p:nvPr/>
        </p:nvSpPr>
        <p:spPr>
          <a:xfrm>
            <a:off x="8942603"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Revenue − cost, live for every phase and project</a:t>
            </a:r>
            <a:endParaRPr lang="en-US" sz="1200" dirty="0"/>
          </a:p>
        </p:txBody>
      </p:sp>
      <p:sp>
        <p:nvSpPr>
          <p:cNvPr id="38" name="badge-85"/>
          <p:cNvSpPr/>
          <p:nvPr/>
        </p:nvSpPr>
        <p:spPr>
          <a:xfrm>
            <a:off x="10583894" y="1600200"/>
            <a:ext cx="731520" cy="731520"/>
          </a:xfrm>
          <a:prstGeom prst="ellipse">
            <a:avLst/>
          </a:prstGeom>
          <a:solidFill>
            <a:schemeClr val="accent1"/>
          </a:solidFill>
          <a:ln/>
        </p:spPr>
      </p:sp>
      <p:sp>
        <p:nvSpPr>
          <p:cNvPr id="39" name="badge-n-86"/>
          <p:cNvSpPr txBox="1"/>
          <p:nvPr/>
        </p:nvSpPr>
        <p:spPr>
          <a:xfrm>
            <a:off x="10583894" y="1600200"/>
            <a:ext cx="731520" cy="731520"/>
          </a:xfrm>
          <a:prstGeom prst="rect">
            <a:avLst/>
          </a:prstGeom>
          <a:noFill/>
          <a:ln/>
        </p:spPr>
        <p:txBody>
          <a:bodyPr wrap="square" lIns="0" tIns="0" rIns="0" bIns="0" rtlCol="0" anchor="ctr"/>
          <a:lstStyle/>
          <a:p>
            <a:pPr algn="ctr" indent="0" marL="0">
              <a:buNone/>
            </a:pPr>
            <a:r>
              <a:rPr lang="en-US" sz="2200" b="1" dirty="0">
                <a:solidFill>
                  <a:schemeClr val="tx2"/>
                </a:solidFill>
              </a:rPr>
              <a:t>8</a:t>
            </a:r>
            <a:endParaRPr lang="en-US" sz="2200" dirty="0"/>
          </a:p>
        </p:txBody>
      </p:sp>
      <p:sp>
        <p:nvSpPr>
          <p:cNvPr id="40" name="flow-h-87"/>
          <p:cNvSpPr txBox="1"/>
          <p:nvPr/>
        </p:nvSpPr>
        <p:spPr>
          <a:xfrm>
            <a:off x="10301973" y="2514600"/>
            <a:ext cx="1295362" cy="411480"/>
          </a:xfrm>
          <a:prstGeom prst="rect">
            <a:avLst/>
          </a:prstGeom>
          <a:noFill/>
          <a:ln/>
        </p:spPr>
        <p:txBody>
          <a:bodyPr wrap="square" lIns="0" tIns="0" rIns="0" bIns="0" rtlCol="0" anchor="ctr"/>
          <a:lstStyle/>
          <a:p>
            <a:pPr algn="ctr" indent="0" marL="0">
              <a:buNone/>
            </a:pPr>
            <a:r>
              <a:rPr lang="en-US" sz="1700" b="1" dirty="0">
                <a:solidFill>
                  <a:schemeClr val="tx2"/>
                </a:solidFill>
              </a:rPr>
              <a:t>Closure</a:t>
            </a:r>
            <a:endParaRPr lang="en-US" sz="1700" dirty="0"/>
          </a:p>
        </p:txBody>
      </p:sp>
      <p:sp>
        <p:nvSpPr>
          <p:cNvPr id="41" name="flow-b-88"/>
          <p:cNvSpPr txBox="1"/>
          <p:nvPr/>
        </p:nvSpPr>
        <p:spPr>
          <a:xfrm>
            <a:off x="10329405" y="2926080"/>
            <a:ext cx="1240498" cy="1280160"/>
          </a:xfrm>
          <a:prstGeom prst="rect">
            <a:avLst/>
          </a:prstGeom>
          <a:noFill/>
          <a:ln/>
        </p:spPr>
        <p:txBody>
          <a:bodyPr wrap="square" lIns="0" tIns="0" rIns="0" bIns="0" rtlCol="0" anchor="t"/>
          <a:lstStyle/>
          <a:p>
            <a:pPr algn="ctr" indent="0" marL="0">
              <a:buNone/>
            </a:pPr>
            <a:r>
              <a:rPr lang="en-US" sz="1200" dirty="0">
                <a:solidFill>
                  <a:schemeClr val="tx1"/>
                </a:solidFill>
              </a:rPr>
              <a:t>Run the checklist and lock the final report</a:t>
            </a:r>
            <a:endParaRPr lang="en-US" sz="1200" dirty="0"/>
          </a:p>
        </p:txBody>
      </p:sp>
      <p:sp>
        <p:nvSpPr>
          <p:cNvPr id="42" name="trace-bg-89"/>
          <p:cNvSpPr/>
          <p:nvPr/>
        </p:nvSpPr>
        <p:spPr>
          <a:xfrm>
            <a:off x="548640" y="4526280"/>
            <a:ext cx="11094415" cy="1463040"/>
          </a:xfrm>
          <a:prstGeom prst="roundRect">
            <a:avLst>
              <a:gd name="adj" fmla="val 6250"/>
            </a:avLst>
          </a:prstGeom>
          <a:solidFill>
            <a:schemeClr val="bg2"/>
          </a:solidFill>
          <a:ln/>
        </p:spPr>
      </p:sp>
      <p:sp>
        <p:nvSpPr>
          <p:cNvPr id="43" name="trace-h-90"/>
          <p:cNvSpPr txBox="1"/>
          <p:nvPr/>
        </p:nvSpPr>
        <p:spPr>
          <a:xfrm>
            <a:off x="822960" y="4663440"/>
            <a:ext cx="10058400" cy="365760"/>
          </a:xfrm>
          <a:prstGeom prst="rect">
            <a:avLst/>
          </a:prstGeom>
          <a:noFill/>
          <a:ln/>
        </p:spPr>
        <p:txBody>
          <a:bodyPr wrap="square" lIns="0" tIns="0" rIns="0" bIns="0" rtlCol="0" anchor="ctr"/>
          <a:lstStyle/>
          <a:p>
            <a:pPr indent="0" marL="0">
              <a:buNone/>
            </a:pPr>
            <a:r>
              <a:rPr lang="en-US" sz="1600" b="1" dirty="0">
                <a:solidFill>
                  <a:schemeClr val="tx2"/>
                </a:solidFill>
              </a:rPr>
              <a:t>Every number is traceable through linked IDs</a:t>
            </a:r>
            <a:endParaRPr lang="en-US" sz="1600" dirty="0"/>
          </a:p>
        </p:txBody>
      </p:sp>
      <p:sp>
        <p:nvSpPr>
          <p:cNvPr id="44" name="trace-91"/>
          <p:cNvSpPr txBox="1"/>
          <p:nvPr/>
        </p:nvSpPr>
        <p:spPr>
          <a:xfrm>
            <a:off x="822960" y="5074920"/>
            <a:ext cx="10545775" cy="411480"/>
          </a:xfrm>
          <a:prstGeom prst="rect">
            <a:avLst/>
          </a:prstGeom>
          <a:noFill/>
          <a:ln/>
        </p:spPr>
        <p:txBody>
          <a:bodyPr wrap="square" lIns="0" tIns="0" rIns="0" bIns="0" rtlCol="0" anchor="ctr"/>
          <a:lstStyle/>
          <a:p>
            <a:pPr indent="0" marL="0">
              <a:buNone/>
            </a:pPr>
            <a:r>
              <a:rPr lang="en-US" sz="1400" b="1" dirty="0">
                <a:solidFill>
                  <a:schemeClr val="tx1"/>
                </a:solidFill>
              </a:rPr>
              <a:t>QT-2026-001</a:t>
            </a:r>
            <a:pPr indent="0" marL="0">
              <a:buNone/>
            </a:pPr>
            <a:r>
              <a:rPr lang="en-US" sz="1400" dirty="0">
                <a:solidFill>
                  <a:schemeClr val="tx1"/>
                </a:solidFill>
              </a:rPr>
              <a:t>  →  </a:t>
            </a:r>
            <a:pPr indent="0" marL="0">
              <a:buNone/>
            </a:pPr>
            <a:r>
              <a:rPr lang="en-US" sz="1400" b="1" dirty="0">
                <a:solidFill>
                  <a:schemeClr val="tx1"/>
                </a:solidFill>
              </a:rPr>
              <a:t>PRJ-2026-001</a:t>
            </a:r>
            <a:pPr indent="0" marL="0">
              <a:buNone/>
            </a:pPr>
            <a:r>
              <a:rPr lang="en-US" sz="1400" dirty="0">
                <a:solidFill>
                  <a:schemeClr val="tx1"/>
                </a:solidFill>
              </a:rPr>
              <a:t>  →  </a:t>
            </a:r>
            <a:pPr indent="0" marL="0">
              <a:buNone/>
            </a:pPr>
            <a:r>
              <a:rPr lang="en-US" sz="1400" b="1" dirty="0">
                <a:solidFill>
                  <a:schemeClr val="tx1"/>
                </a:solidFill>
              </a:rPr>
              <a:t>PH-001 Foundation</a:t>
            </a:r>
            <a:pPr indent="0" marL="0">
              <a:buNone/>
            </a:pPr>
            <a:r>
              <a:rPr lang="en-US" sz="1400" dirty="0">
                <a:solidFill>
                  <a:schemeClr val="tx1"/>
                </a:solidFill>
              </a:rPr>
              <a:t>  →  </a:t>
            </a:r>
            <a:pPr indent="0" marL="0">
              <a:buNone/>
            </a:pPr>
            <a:r>
              <a:rPr lang="en-US" sz="1400" b="1" dirty="0">
                <a:solidFill>
                  <a:schemeClr val="tx1"/>
                </a:solidFill>
              </a:rPr>
              <a:t>EXP-001 cement</a:t>
            </a:r>
            <a:pPr indent="0" marL="0">
              <a:buNone/>
            </a:pPr>
            <a:r>
              <a:rPr lang="en-US" sz="1400" dirty="0">
                <a:solidFill>
                  <a:schemeClr val="tx1"/>
                </a:solidFill>
              </a:rPr>
              <a:t>  →  </a:t>
            </a:r>
            <a:pPr indent="0" marL="0">
              <a:buNone/>
            </a:pPr>
            <a:r>
              <a:rPr lang="en-US" sz="1400" b="1" dirty="0">
                <a:solidFill>
                  <a:schemeClr val="tx1"/>
                </a:solidFill>
              </a:rPr>
              <a:t>SIN-001 supplier bill</a:t>
            </a:r>
            <a:pPr indent="0" marL="0">
              <a:buNone/>
            </a:pPr>
            <a:r>
              <a:rPr lang="en-US" sz="1400" dirty="0">
                <a:solidFill>
                  <a:schemeClr val="tx1"/>
                </a:solidFill>
              </a:rPr>
              <a:t>  →  </a:t>
            </a:r>
            <a:pPr indent="0" marL="0">
              <a:buNone/>
            </a:pPr>
            <a:r>
              <a:rPr lang="en-US" sz="1400" b="1" dirty="0">
                <a:solidFill>
                  <a:schemeClr val="tx1"/>
                </a:solidFill>
              </a:rPr>
              <a:t>CINV-007 invoice</a:t>
            </a:r>
            <a:pPr indent="0" marL="0">
              <a:buNone/>
            </a:pPr>
            <a:r>
              <a:rPr lang="en-US" sz="1400" dirty="0">
                <a:solidFill>
                  <a:schemeClr val="tx1"/>
                </a:solidFill>
              </a:rPr>
              <a:t>  →  </a:t>
            </a:r>
            <a:pPr indent="0" marL="0">
              <a:buNone/>
            </a:pPr>
            <a:r>
              <a:rPr lang="en-US" sz="1400" b="1" dirty="0">
                <a:solidFill>
                  <a:schemeClr val="tx1"/>
                </a:solidFill>
              </a:rPr>
              <a:t>PAY-011 receipt</a:t>
            </a:r>
            <a:endParaRPr lang="en-US" sz="1400" dirty="0"/>
          </a:p>
        </p:txBody>
      </p:sp>
      <p:sp>
        <p:nvSpPr>
          <p:cNvPr id="45" name="trace-c-92"/>
          <p:cNvSpPr txBox="1"/>
          <p:nvPr/>
        </p:nvSpPr>
        <p:spPr>
          <a:xfrm>
            <a:off x="822960" y="5486400"/>
            <a:ext cx="10058400" cy="365760"/>
          </a:xfrm>
          <a:prstGeom prst="rect">
            <a:avLst/>
          </a:prstGeom>
          <a:noFill/>
          <a:ln/>
        </p:spPr>
        <p:txBody>
          <a:bodyPr wrap="square" lIns="0" tIns="0" rIns="0" bIns="0" rtlCol="0" anchor="ctr"/>
          <a:lstStyle/>
          <a:p>
            <a:pPr indent="0" marL="0">
              <a:buNone/>
            </a:pPr>
            <a:r>
              <a:rPr lang="en-US" sz="1300" dirty="0">
                <a:solidFill>
                  <a:schemeClr val="accent6"/>
                </a:solidFill>
              </a:rPr>
              <a:t>Click any figure in the app and you can follow it back to the project, phase and record behind it.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n-93"/>
          <p:cNvSpPr txBox="1"/>
          <p:nvPr/>
        </p:nvSpPr>
        <p:spPr>
          <a:xfrm>
            <a:off x="548640" y="1463040"/>
            <a:ext cx="2743200" cy="1097280"/>
          </a:xfrm>
          <a:prstGeom prst="rect">
            <a:avLst/>
          </a:prstGeom>
          <a:noFill/>
          <a:ln/>
        </p:spPr>
        <p:txBody>
          <a:bodyPr wrap="square" lIns="0" tIns="0" rIns="0" bIns="0" rtlCol="0" anchor="ctr"/>
          <a:lstStyle/>
          <a:p>
            <a:pPr indent="0" marL="0">
              <a:buNone/>
            </a:pPr>
            <a:r>
              <a:rPr lang="en-US" sz="7200" b="1" dirty="0">
                <a:solidFill>
                  <a:schemeClr val="accent1"/>
                </a:solidFill>
              </a:rPr>
              <a:t>01</a:t>
            </a:r>
            <a:endParaRPr lang="en-US" sz="7200" dirty="0"/>
          </a:p>
        </p:txBody>
      </p:sp>
      <p:sp>
        <p:nvSpPr>
          <p:cNvPr id="3" name="Text 0"/>
          <p:cNvSpPr/>
          <p:nvPr>
            <p:ph idx="100" type="title" hasCustomPrompt="1"/>
          </p:nvPr>
        </p:nvSpPr>
        <p:spPr>
          <a:xfrm>
            <a:off x="548640" y="2743200"/>
            <a:ext cx="10515600" cy="1097280"/>
          </a:xfrm>
          <a:prstGeom prst="rect">
            <a:avLst/>
          </a:prstGeom>
          <a:noFill/>
          <a:ln/>
        </p:spPr>
        <p:txBody>
          <a:bodyPr wrap="square" lIns="0" tIns="0" rIns="0" bIns="0" rtlCol="0" anchor="t"/>
          <a:lstStyle/>
          <a:p>
            <a:pPr algn="l" indent="0" marL="0">
              <a:buNone/>
            </a:pPr>
            <a:r>
              <a:rPr lang="en-US" sz="4000" b="1" dirty="0">
                <a:solidFill>
                  <a:schemeClr val="bg1"/>
                </a:solidFill>
              </a:rPr>
              <a:t>Reading the figures</a:t>
            </a:r>
            <a:endParaRPr lang="en-US" sz="4000" dirty="0"/>
          </a:p>
        </p:txBody>
      </p:sp>
      <p:sp>
        <p:nvSpPr>
          <p:cNvPr id="4" name="Text 0"/>
          <p:cNvSpPr/>
          <p:nvPr>
            <p:ph idx="101" type="body" hasCustomPrompt="1"/>
          </p:nvPr>
        </p:nvSpPr>
        <p:spPr>
          <a:xfrm>
            <a:off x="548640" y="3886200"/>
            <a:ext cx="10515600" cy="822960"/>
          </a:xfrm>
          <a:prstGeom prst="rect">
            <a:avLst/>
          </a:prstGeom>
          <a:noFill/>
          <a:ln/>
        </p:spPr>
        <p:txBody>
          <a:bodyPr wrap="square" lIns="0" tIns="0" rIns="0" bIns="0" rtlCol="0" anchor="t"/>
          <a:lstStyle/>
          <a:p>
            <a:pPr algn="l" indent="0" marL="0">
              <a:buNone/>
            </a:pPr>
            <a:r>
              <a:rPr lang="en-US" sz="1800" dirty="0">
                <a:solidFill>
                  <a:schemeClr val="bg2"/>
                </a:solidFill>
              </a:rPr>
              <a:t>What each KPI and chart means, and the formulas behind them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The dashboard opens with ten headline figures</a:t>
            </a:r>
            <a:endParaRPr lang="en-US" sz="3000" dirty="0"/>
          </a:p>
        </p:txBody>
      </p:sp>
      <p:sp>
        <p:nvSpPr>
          <p:cNvPr id="3" name="frame-94"/>
          <p:cNvSpPr/>
          <p:nvPr/>
        </p:nvSpPr>
        <p:spPr>
          <a:xfrm>
            <a:off x="548640" y="1298448"/>
            <a:ext cx="6729984" cy="4564685"/>
          </a:xfrm>
          <a:prstGeom prst="roundRect">
            <a:avLst>
              <a:gd name="adj" fmla="val 1603"/>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95" descr="Management dashboard showing ten KPI cards and charts">    </p:cNvPr>
          <p:cNvPicPr>
            <a:picLocks noChangeAspect="1"/>
          </p:cNvPicPr>
          <p:nvPr/>
        </p:nvPicPr>
        <p:blipFill>
          <a:blip r:embed="rId1"/>
          <a:stretch>
            <a:fillRect/>
          </a:stretch>
        </p:blipFill>
        <p:spPr>
          <a:xfrm>
            <a:off x="621792" y="1371600"/>
            <a:ext cx="6583680" cy="4418381"/>
          </a:xfrm>
          <a:prstGeom prst="rect">
            <a:avLst/>
          </a:prstGeom>
        </p:spPr>
      </p:pic>
      <p:sp>
        <p:nvSpPr>
          <p:cNvPr id="5" name="kpi-k-96"/>
          <p:cNvSpPr txBox="1"/>
          <p:nvPr/>
        </p:nvSpPr>
        <p:spPr>
          <a:xfrm>
            <a:off x="7635240" y="1280160"/>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Contract Value</a:t>
            </a:r>
            <a:endParaRPr lang="en-US" sz="1400" dirty="0"/>
          </a:p>
        </p:txBody>
      </p:sp>
      <p:sp>
        <p:nvSpPr>
          <p:cNvPr id="6" name="kpi-d-97"/>
          <p:cNvSpPr txBox="1"/>
          <p:nvPr/>
        </p:nvSpPr>
        <p:spPr>
          <a:xfrm>
            <a:off x="7635240" y="1517904"/>
            <a:ext cx="4023360" cy="237744"/>
          </a:xfrm>
          <a:prstGeom prst="rect">
            <a:avLst/>
          </a:prstGeom>
          <a:noFill/>
          <a:ln/>
        </p:spPr>
        <p:txBody>
          <a:bodyPr wrap="square" lIns="0" tIns="0" rIns="0" bIns="0" rtlCol="0" anchor="ctr"/>
          <a:lstStyle/>
          <a:p>
            <a:pPr indent="0" marL="0">
              <a:buNone/>
            </a:pPr>
            <a:r>
              <a:rPr lang="en-US" sz="1100" dirty="0">
                <a:solidFill>
                  <a:schemeClr val="tx1"/>
                </a:solidFill>
              </a:rPr>
              <a:t>Total approved value, incl. change orders</a:t>
            </a:r>
            <a:endParaRPr lang="en-US" sz="1100" dirty="0"/>
          </a:p>
        </p:txBody>
      </p:sp>
      <p:sp>
        <p:nvSpPr>
          <p:cNvPr id="7" name="kpi-k-98"/>
          <p:cNvSpPr txBox="1"/>
          <p:nvPr/>
        </p:nvSpPr>
        <p:spPr>
          <a:xfrm>
            <a:off x="7635240" y="1773936"/>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Billed</a:t>
            </a:r>
            <a:endParaRPr lang="en-US" sz="1400" dirty="0"/>
          </a:p>
        </p:txBody>
      </p:sp>
      <p:sp>
        <p:nvSpPr>
          <p:cNvPr id="8" name="kpi-d-99"/>
          <p:cNvSpPr txBox="1"/>
          <p:nvPr/>
        </p:nvSpPr>
        <p:spPr>
          <a:xfrm>
            <a:off x="7635240" y="2011680"/>
            <a:ext cx="4023360" cy="237744"/>
          </a:xfrm>
          <a:prstGeom prst="rect">
            <a:avLst/>
          </a:prstGeom>
          <a:noFill/>
          <a:ln/>
        </p:spPr>
        <p:txBody>
          <a:bodyPr wrap="square" lIns="0" tIns="0" rIns="0" bIns="0" rtlCol="0" anchor="ctr"/>
          <a:lstStyle/>
          <a:p>
            <a:pPr indent="0" marL="0">
              <a:buNone/>
            </a:pPr>
            <a:r>
              <a:rPr lang="en-US" sz="1100" dirty="0">
                <a:solidFill>
                  <a:schemeClr val="tx1"/>
                </a:solidFill>
              </a:rPr>
              <a:t>Invoices issued (sub-line: billed − actual cost)</a:t>
            </a:r>
            <a:endParaRPr lang="en-US" sz="1100" dirty="0"/>
          </a:p>
        </p:txBody>
      </p:sp>
      <p:sp>
        <p:nvSpPr>
          <p:cNvPr id="9" name="kpi-k-100"/>
          <p:cNvSpPr txBox="1"/>
          <p:nvPr/>
        </p:nvSpPr>
        <p:spPr>
          <a:xfrm>
            <a:off x="7635240" y="2267712"/>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Received</a:t>
            </a:r>
            <a:endParaRPr lang="en-US" sz="1400" dirty="0"/>
          </a:p>
        </p:txBody>
      </p:sp>
      <p:sp>
        <p:nvSpPr>
          <p:cNvPr id="10" name="kpi-d-101"/>
          <p:cNvSpPr txBox="1"/>
          <p:nvPr/>
        </p:nvSpPr>
        <p:spPr>
          <a:xfrm>
            <a:off x="7635240" y="2505456"/>
            <a:ext cx="4023360" cy="237744"/>
          </a:xfrm>
          <a:prstGeom prst="rect">
            <a:avLst/>
          </a:prstGeom>
          <a:noFill/>
          <a:ln/>
        </p:spPr>
        <p:txBody>
          <a:bodyPr wrap="square" lIns="0" tIns="0" rIns="0" bIns="0" rtlCol="0" anchor="ctr"/>
          <a:lstStyle/>
          <a:p>
            <a:pPr indent="0" marL="0">
              <a:buNone/>
            </a:pPr>
            <a:r>
              <a:rPr lang="en-US" sz="1100" dirty="0">
                <a:solidFill>
                  <a:schemeClr val="tx1"/>
                </a:solidFill>
              </a:rPr>
              <a:t>Cash actually collected from clients</a:t>
            </a:r>
            <a:endParaRPr lang="en-US" sz="1100" dirty="0"/>
          </a:p>
        </p:txBody>
      </p:sp>
      <p:sp>
        <p:nvSpPr>
          <p:cNvPr id="11" name="kpi-k-102"/>
          <p:cNvSpPr txBox="1"/>
          <p:nvPr/>
        </p:nvSpPr>
        <p:spPr>
          <a:xfrm>
            <a:off x="7635240" y="2761488"/>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Client Receivable</a:t>
            </a:r>
            <a:endParaRPr lang="en-US" sz="1400" dirty="0"/>
          </a:p>
        </p:txBody>
      </p:sp>
      <p:sp>
        <p:nvSpPr>
          <p:cNvPr id="12" name="kpi-d-103"/>
          <p:cNvSpPr txBox="1"/>
          <p:nvPr/>
        </p:nvSpPr>
        <p:spPr>
          <a:xfrm>
            <a:off x="7635240" y="2999232"/>
            <a:ext cx="4023360" cy="237744"/>
          </a:xfrm>
          <a:prstGeom prst="rect">
            <a:avLst/>
          </a:prstGeom>
          <a:noFill/>
          <a:ln/>
        </p:spPr>
        <p:txBody>
          <a:bodyPr wrap="square" lIns="0" tIns="0" rIns="0" bIns="0" rtlCol="0" anchor="ctr"/>
          <a:lstStyle/>
          <a:p>
            <a:pPr indent="0" marL="0">
              <a:buNone/>
            </a:pPr>
            <a:r>
              <a:rPr lang="en-US" sz="1100" dirty="0">
                <a:solidFill>
                  <a:schemeClr val="tx1"/>
                </a:solidFill>
              </a:rPr>
              <a:t>Billed − received; overdue part in red</a:t>
            </a:r>
            <a:endParaRPr lang="en-US" sz="1100" dirty="0"/>
          </a:p>
        </p:txBody>
      </p:sp>
      <p:sp>
        <p:nvSpPr>
          <p:cNvPr id="13" name="kpi-k-104"/>
          <p:cNvSpPr txBox="1"/>
          <p:nvPr/>
        </p:nvSpPr>
        <p:spPr>
          <a:xfrm>
            <a:off x="7635240" y="3255264"/>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Supplier Payable</a:t>
            </a:r>
            <a:endParaRPr lang="en-US" sz="1400" dirty="0"/>
          </a:p>
        </p:txBody>
      </p:sp>
      <p:sp>
        <p:nvSpPr>
          <p:cNvPr id="14" name="kpi-d-105"/>
          <p:cNvSpPr txBox="1"/>
          <p:nvPr/>
        </p:nvSpPr>
        <p:spPr>
          <a:xfrm>
            <a:off x="7635240" y="3493008"/>
            <a:ext cx="4023360" cy="237744"/>
          </a:xfrm>
          <a:prstGeom prst="rect">
            <a:avLst/>
          </a:prstGeom>
          <a:noFill/>
          <a:ln/>
        </p:spPr>
        <p:txBody>
          <a:bodyPr wrap="square" lIns="0" tIns="0" rIns="0" bIns="0" rtlCol="0" anchor="ctr"/>
          <a:lstStyle/>
          <a:p>
            <a:pPr indent="0" marL="0">
              <a:buNone/>
            </a:pPr>
            <a:r>
              <a:rPr lang="en-US" sz="1100" dirty="0">
                <a:solidFill>
                  <a:schemeClr val="tx1"/>
                </a:solidFill>
              </a:rPr>
              <a:t>Supplier invoices not yet paid</a:t>
            </a:r>
            <a:endParaRPr lang="en-US" sz="1100" dirty="0"/>
          </a:p>
        </p:txBody>
      </p:sp>
      <p:sp>
        <p:nvSpPr>
          <p:cNvPr id="15" name="kpi-k-106"/>
          <p:cNvSpPr txBox="1"/>
          <p:nvPr/>
        </p:nvSpPr>
        <p:spPr>
          <a:xfrm>
            <a:off x="7635240" y="3749040"/>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Planned Cost</a:t>
            </a:r>
            <a:endParaRPr lang="en-US" sz="1400" dirty="0"/>
          </a:p>
        </p:txBody>
      </p:sp>
      <p:sp>
        <p:nvSpPr>
          <p:cNvPr id="16" name="kpi-d-107"/>
          <p:cNvSpPr txBox="1"/>
          <p:nvPr/>
        </p:nvSpPr>
        <p:spPr>
          <a:xfrm>
            <a:off x="7635240" y="3986784"/>
            <a:ext cx="4023360" cy="237744"/>
          </a:xfrm>
          <a:prstGeom prst="rect">
            <a:avLst/>
          </a:prstGeom>
          <a:noFill/>
          <a:ln/>
        </p:spPr>
        <p:txBody>
          <a:bodyPr wrap="square" lIns="0" tIns="0" rIns="0" bIns="0" rtlCol="0" anchor="ctr"/>
          <a:lstStyle/>
          <a:p>
            <a:pPr indent="0" marL="0">
              <a:buNone/>
            </a:pPr>
            <a:r>
              <a:rPr lang="en-US" sz="1100" dirty="0">
                <a:solidFill>
                  <a:schemeClr val="tx1"/>
                </a:solidFill>
              </a:rPr>
              <a:t>Original estimated cost (phase budgets)</a:t>
            </a:r>
            <a:endParaRPr lang="en-US" sz="1100" dirty="0"/>
          </a:p>
        </p:txBody>
      </p:sp>
      <p:sp>
        <p:nvSpPr>
          <p:cNvPr id="17" name="kpi-k-108"/>
          <p:cNvSpPr txBox="1"/>
          <p:nvPr/>
        </p:nvSpPr>
        <p:spPr>
          <a:xfrm>
            <a:off x="7635240" y="4242816"/>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Actual Cost</a:t>
            </a:r>
            <a:endParaRPr lang="en-US" sz="1400" dirty="0"/>
          </a:p>
        </p:txBody>
      </p:sp>
      <p:sp>
        <p:nvSpPr>
          <p:cNvPr id="18" name="kpi-d-109"/>
          <p:cNvSpPr txBox="1"/>
          <p:nvPr/>
        </p:nvSpPr>
        <p:spPr>
          <a:xfrm>
            <a:off x="7635240" y="4480560"/>
            <a:ext cx="4023360" cy="237744"/>
          </a:xfrm>
          <a:prstGeom prst="rect">
            <a:avLst/>
          </a:prstGeom>
          <a:noFill/>
          <a:ln/>
        </p:spPr>
        <p:txBody>
          <a:bodyPr wrap="square" lIns="0" tIns="0" rIns="0" bIns="0" rtlCol="0" anchor="ctr"/>
          <a:lstStyle/>
          <a:p>
            <a:pPr indent="0" marL="0">
              <a:buNone/>
            </a:pPr>
            <a:r>
              <a:rPr lang="en-US" sz="1100" dirty="0">
                <a:solidFill>
                  <a:schemeClr val="tx1"/>
                </a:solidFill>
              </a:rPr>
              <a:t>Cost incurred so far, incl. work in progress</a:t>
            </a:r>
            <a:endParaRPr lang="en-US" sz="1100" dirty="0"/>
          </a:p>
        </p:txBody>
      </p:sp>
      <p:sp>
        <p:nvSpPr>
          <p:cNvPr id="19" name="kpi-k-110"/>
          <p:cNvSpPr txBox="1"/>
          <p:nvPr/>
        </p:nvSpPr>
        <p:spPr>
          <a:xfrm>
            <a:off x="7635240" y="4736592"/>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Completed Revenue</a:t>
            </a:r>
            <a:endParaRPr lang="en-US" sz="1400" dirty="0"/>
          </a:p>
        </p:txBody>
      </p:sp>
      <p:sp>
        <p:nvSpPr>
          <p:cNvPr id="20" name="kpi-d-111"/>
          <p:cNvSpPr txBox="1"/>
          <p:nvPr/>
        </p:nvSpPr>
        <p:spPr>
          <a:xfrm>
            <a:off x="7635240" y="4974336"/>
            <a:ext cx="4023360" cy="237744"/>
          </a:xfrm>
          <a:prstGeom prst="rect">
            <a:avLst/>
          </a:prstGeom>
          <a:noFill/>
          <a:ln/>
        </p:spPr>
        <p:txBody>
          <a:bodyPr wrap="square" lIns="0" tIns="0" rIns="0" bIns="0" rtlCol="0" anchor="ctr"/>
          <a:lstStyle/>
          <a:p>
            <a:pPr indent="0" marL="0">
              <a:buNone/>
            </a:pPr>
            <a:r>
              <a:rPr lang="en-US" sz="1100" dirty="0">
                <a:solidFill>
                  <a:schemeClr val="tx1"/>
                </a:solidFill>
              </a:rPr>
              <a:t>Contract value of completed phases</a:t>
            </a:r>
            <a:endParaRPr lang="en-US" sz="1100" dirty="0"/>
          </a:p>
        </p:txBody>
      </p:sp>
      <p:sp>
        <p:nvSpPr>
          <p:cNvPr id="21" name="kpi-k-112"/>
          <p:cNvSpPr txBox="1"/>
          <p:nvPr/>
        </p:nvSpPr>
        <p:spPr>
          <a:xfrm>
            <a:off x="7635240" y="5230368"/>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Actual Profit</a:t>
            </a:r>
            <a:endParaRPr lang="en-US" sz="1400" dirty="0"/>
          </a:p>
        </p:txBody>
      </p:sp>
      <p:sp>
        <p:nvSpPr>
          <p:cNvPr id="22" name="kpi-d-113"/>
          <p:cNvSpPr txBox="1"/>
          <p:nvPr/>
        </p:nvSpPr>
        <p:spPr>
          <a:xfrm>
            <a:off x="7635240" y="5468112"/>
            <a:ext cx="4023360" cy="237744"/>
          </a:xfrm>
          <a:prstGeom prst="rect">
            <a:avLst/>
          </a:prstGeom>
          <a:noFill/>
          <a:ln/>
        </p:spPr>
        <p:txBody>
          <a:bodyPr wrap="square" lIns="0" tIns="0" rIns="0" bIns="0" rtlCol="0" anchor="ctr"/>
          <a:lstStyle/>
          <a:p>
            <a:pPr indent="0" marL="0">
              <a:buNone/>
            </a:pPr>
            <a:r>
              <a:rPr lang="en-US" sz="1100" dirty="0">
                <a:solidFill>
                  <a:schemeClr val="tx1"/>
                </a:solidFill>
              </a:rPr>
              <a:t>Completed revenue − cost of those phases</a:t>
            </a:r>
            <a:endParaRPr lang="en-US" sz="1100" dirty="0"/>
          </a:p>
        </p:txBody>
      </p:sp>
      <p:sp>
        <p:nvSpPr>
          <p:cNvPr id="23" name="kpi-k-114"/>
          <p:cNvSpPr txBox="1"/>
          <p:nvPr/>
        </p:nvSpPr>
        <p:spPr>
          <a:xfrm>
            <a:off x="7635240" y="5724144"/>
            <a:ext cx="4023360" cy="246888"/>
          </a:xfrm>
          <a:prstGeom prst="rect">
            <a:avLst/>
          </a:prstGeom>
          <a:noFill/>
          <a:ln/>
        </p:spPr>
        <p:txBody>
          <a:bodyPr wrap="square" lIns="0" tIns="0" rIns="0" bIns="0" rtlCol="0" anchor="ctr"/>
          <a:lstStyle/>
          <a:p>
            <a:pPr indent="0" marL="0">
              <a:buNone/>
            </a:pPr>
            <a:r>
              <a:rPr lang="en-US" sz="1400" b="1" dirty="0">
                <a:solidFill>
                  <a:schemeClr val="tx2"/>
                </a:solidFill>
              </a:rPr>
              <a:t>Forecast Profit</a:t>
            </a:r>
            <a:endParaRPr lang="en-US" sz="1400" dirty="0"/>
          </a:p>
        </p:txBody>
      </p:sp>
      <p:sp>
        <p:nvSpPr>
          <p:cNvPr id="24" name="kpi-d-115"/>
          <p:cNvSpPr txBox="1"/>
          <p:nvPr/>
        </p:nvSpPr>
        <p:spPr>
          <a:xfrm>
            <a:off x="7635240" y="5961888"/>
            <a:ext cx="4023360" cy="237744"/>
          </a:xfrm>
          <a:prstGeom prst="rect">
            <a:avLst/>
          </a:prstGeom>
          <a:noFill/>
          <a:ln/>
        </p:spPr>
        <p:txBody>
          <a:bodyPr wrap="square" lIns="0" tIns="0" rIns="0" bIns="0" rtlCol="0" anchor="ctr"/>
          <a:lstStyle/>
          <a:p>
            <a:pPr indent="0" marL="0">
              <a:buNone/>
            </a:pPr>
            <a:r>
              <a:rPr lang="en-US" sz="1100" dirty="0">
                <a:solidFill>
                  <a:schemeClr val="tx1"/>
                </a:solidFill>
              </a:rPr>
              <a:t>Expected final revenue − expected final cost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Six formulas produce every profit figure in the app</a:t>
            </a:r>
            <a:endParaRPr lang="en-US" sz="3000" dirty="0"/>
          </a:p>
        </p:txBody>
      </p:sp>
      <p:sp>
        <p:nvSpPr>
          <p:cNvPr id="3" name="f-bg-116"/>
          <p:cNvSpPr/>
          <p:nvPr/>
        </p:nvSpPr>
        <p:spPr>
          <a:xfrm>
            <a:off x="548640" y="1371600"/>
            <a:ext cx="3515258" cy="2240280"/>
          </a:xfrm>
          <a:prstGeom prst="roundRect">
            <a:avLst>
              <a:gd name="adj" fmla="val 4082"/>
            </a:avLst>
          </a:prstGeom>
          <a:solidFill>
            <a:schemeClr val="bg2"/>
          </a:solidFill>
          <a:ln/>
        </p:spPr>
      </p:sp>
      <p:sp>
        <p:nvSpPr>
          <p:cNvPr id="4" name="badge-117"/>
          <p:cNvSpPr/>
          <p:nvPr/>
        </p:nvSpPr>
        <p:spPr>
          <a:xfrm>
            <a:off x="777240" y="1600200"/>
            <a:ext cx="402336" cy="402336"/>
          </a:xfrm>
          <a:prstGeom prst="ellipse">
            <a:avLst/>
          </a:prstGeom>
          <a:solidFill>
            <a:schemeClr val="accent1"/>
          </a:solidFill>
          <a:ln/>
        </p:spPr>
      </p:sp>
      <p:sp>
        <p:nvSpPr>
          <p:cNvPr id="5" name="badge-n-118"/>
          <p:cNvSpPr txBox="1"/>
          <p:nvPr/>
        </p:nvSpPr>
        <p:spPr>
          <a:xfrm>
            <a:off x="777240" y="160020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6" name="f-h-119"/>
          <p:cNvSpPr txBox="1"/>
          <p:nvPr/>
        </p:nvSpPr>
        <p:spPr>
          <a:xfrm>
            <a:off x="1325880" y="160020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Total revenue</a:t>
            </a:r>
            <a:endParaRPr lang="en-US" sz="1800" dirty="0"/>
          </a:p>
        </p:txBody>
      </p:sp>
      <p:sp>
        <p:nvSpPr>
          <p:cNvPr id="7" name="f-f-120"/>
          <p:cNvSpPr txBox="1"/>
          <p:nvPr/>
        </p:nvSpPr>
        <p:spPr>
          <a:xfrm>
            <a:off x="777240" y="2148840"/>
            <a:ext cx="3058058" cy="777240"/>
          </a:xfrm>
          <a:prstGeom prst="rect">
            <a:avLst/>
          </a:prstGeom>
          <a:noFill/>
          <a:ln/>
        </p:spPr>
        <p:txBody>
          <a:bodyPr wrap="square" lIns="0" tIns="0" rIns="0" bIns="0" rtlCol="0" anchor="t"/>
          <a:lstStyle/>
          <a:p>
            <a:pPr indent="0" marL="0">
              <a:buNone/>
            </a:pPr>
            <a:r>
              <a:rPr lang="en-US" sz="1600" dirty="0">
                <a:solidFill>
                  <a:schemeClr val="tx1"/>
                </a:solidFill>
              </a:rPr>
              <a:t>Original contract + approved change orders</a:t>
            </a:r>
            <a:endParaRPr lang="en-US" sz="1600" dirty="0"/>
          </a:p>
        </p:txBody>
      </p:sp>
      <p:sp>
        <p:nvSpPr>
          <p:cNvPr id="8" name="f-e-121"/>
          <p:cNvSpPr txBox="1"/>
          <p:nvPr/>
        </p:nvSpPr>
        <p:spPr>
          <a:xfrm>
            <a:off x="777240" y="3017520"/>
            <a:ext cx="3058058" cy="411480"/>
          </a:xfrm>
          <a:prstGeom prst="rect">
            <a:avLst/>
          </a:prstGeom>
          <a:noFill/>
          <a:ln/>
        </p:spPr>
        <p:txBody>
          <a:bodyPr wrap="square" lIns="0" tIns="0" rIns="0" bIns="0" rtlCol="0" anchor="t"/>
          <a:lstStyle/>
          <a:p>
            <a:pPr indent="0" marL="0">
              <a:buNone/>
            </a:pPr>
            <a:r>
              <a:rPr lang="en-US" sz="1300" i="1" dirty="0">
                <a:solidFill>
                  <a:schemeClr val="accent2"/>
                </a:solidFill>
              </a:rPr>
              <a:t>ABC Villa: ₹50 L + ₹5 L = ₹55 L</a:t>
            </a:r>
            <a:endParaRPr lang="en-US" sz="1300" dirty="0"/>
          </a:p>
        </p:txBody>
      </p:sp>
      <p:sp>
        <p:nvSpPr>
          <p:cNvPr id="9" name="f-bg-122"/>
          <p:cNvSpPr/>
          <p:nvPr/>
        </p:nvSpPr>
        <p:spPr>
          <a:xfrm>
            <a:off x="4338218" y="1371600"/>
            <a:ext cx="3515258" cy="2240280"/>
          </a:xfrm>
          <a:prstGeom prst="roundRect">
            <a:avLst>
              <a:gd name="adj" fmla="val 4082"/>
            </a:avLst>
          </a:prstGeom>
          <a:solidFill>
            <a:schemeClr val="bg2"/>
          </a:solidFill>
          <a:ln/>
        </p:spPr>
      </p:sp>
      <p:sp>
        <p:nvSpPr>
          <p:cNvPr id="10" name="badge-123"/>
          <p:cNvSpPr/>
          <p:nvPr/>
        </p:nvSpPr>
        <p:spPr>
          <a:xfrm>
            <a:off x="4566818" y="1600200"/>
            <a:ext cx="402336" cy="402336"/>
          </a:xfrm>
          <a:prstGeom prst="ellipse">
            <a:avLst/>
          </a:prstGeom>
          <a:solidFill>
            <a:schemeClr val="accent1"/>
          </a:solidFill>
          <a:ln/>
        </p:spPr>
      </p:sp>
      <p:sp>
        <p:nvSpPr>
          <p:cNvPr id="11" name="badge-n-124"/>
          <p:cNvSpPr txBox="1"/>
          <p:nvPr/>
        </p:nvSpPr>
        <p:spPr>
          <a:xfrm>
            <a:off x="4566818" y="160020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2" name="f-h-125"/>
          <p:cNvSpPr txBox="1"/>
          <p:nvPr/>
        </p:nvSpPr>
        <p:spPr>
          <a:xfrm>
            <a:off x="5115458" y="160020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Actual cost</a:t>
            </a:r>
            <a:endParaRPr lang="en-US" sz="1800" dirty="0"/>
          </a:p>
        </p:txBody>
      </p:sp>
      <p:sp>
        <p:nvSpPr>
          <p:cNvPr id="13" name="f-f-126"/>
          <p:cNvSpPr txBox="1"/>
          <p:nvPr/>
        </p:nvSpPr>
        <p:spPr>
          <a:xfrm>
            <a:off x="4566818" y="2148840"/>
            <a:ext cx="3058058" cy="777240"/>
          </a:xfrm>
          <a:prstGeom prst="rect">
            <a:avLst/>
          </a:prstGeom>
          <a:noFill/>
          <a:ln/>
        </p:spPr>
        <p:txBody>
          <a:bodyPr wrap="square" lIns="0" tIns="0" rIns="0" bIns="0" rtlCol="0" anchor="t"/>
          <a:lstStyle/>
          <a:p>
            <a:pPr indent="0" marL="0">
              <a:buNone/>
            </a:pPr>
            <a:r>
              <a:rPr lang="en-US" sz="1600" dirty="0">
                <a:solidFill>
                  <a:schemeClr val="tx1"/>
                </a:solidFill>
              </a:rPr>
              <a:t>Material + own labour + outsource + other direct</a:t>
            </a:r>
            <a:endParaRPr lang="en-US" sz="1600" dirty="0"/>
          </a:p>
        </p:txBody>
      </p:sp>
      <p:sp>
        <p:nvSpPr>
          <p:cNvPr id="14" name="f-e-127"/>
          <p:cNvSpPr txBox="1"/>
          <p:nvPr/>
        </p:nvSpPr>
        <p:spPr>
          <a:xfrm>
            <a:off x="4566818" y="3017520"/>
            <a:ext cx="3058058" cy="411480"/>
          </a:xfrm>
          <a:prstGeom prst="rect">
            <a:avLst/>
          </a:prstGeom>
          <a:noFill/>
          <a:ln/>
        </p:spPr>
        <p:txBody>
          <a:bodyPr wrap="square" lIns="0" tIns="0" rIns="0" bIns="0" rtlCol="0" anchor="t"/>
          <a:lstStyle/>
          <a:p>
            <a:pPr indent="0" marL="0">
              <a:buNone/>
            </a:pPr>
            <a:r>
              <a:rPr lang="en-US" sz="1300" i="1" dirty="0">
                <a:solidFill>
                  <a:schemeClr val="accent2"/>
                </a:solidFill>
              </a:rPr>
              <a:t>Portfolio: ₹66.37 L, of which ₹16.51 L WIP</a:t>
            </a:r>
            <a:endParaRPr lang="en-US" sz="1300" dirty="0"/>
          </a:p>
        </p:txBody>
      </p:sp>
      <p:sp>
        <p:nvSpPr>
          <p:cNvPr id="15" name="f-bg-128"/>
          <p:cNvSpPr/>
          <p:nvPr/>
        </p:nvSpPr>
        <p:spPr>
          <a:xfrm>
            <a:off x="8127797" y="1371600"/>
            <a:ext cx="3515258" cy="2240280"/>
          </a:xfrm>
          <a:prstGeom prst="roundRect">
            <a:avLst>
              <a:gd name="adj" fmla="val 4082"/>
            </a:avLst>
          </a:prstGeom>
          <a:solidFill>
            <a:schemeClr val="bg2"/>
          </a:solidFill>
          <a:ln/>
        </p:spPr>
      </p:sp>
      <p:sp>
        <p:nvSpPr>
          <p:cNvPr id="16" name="badge-129"/>
          <p:cNvSpPr/>
          <p:nvPr/>
        </p:nvSpPr>
        <p:spPr>
          <a:xfrm>
            <a:off x="8356397" y="1600200"/>
            <a:ext cx="402336" cy="402336"/>
          </a:xfrm>
          <a:prstGeom prst="ellipse">
            <a:avLst/>
          </a:prstGeom>
          <a:solidFill>
            <a:schemeClr val="accent1"/>
          </a:solidFill>
          <a:ln/>
        </p:spPr>
      </p:sp>
      <p:sp>
        <p:nvSpPr>
          <p:cNvPr id="17" name="badge-n-130"/>
          <p:cNvSpPr txBox="1"/>
          <p:nvPr/>
        </p:nvSpPr>
        <p:spPr>
          <a:xfrm>
            <a:off x="8356397" y="160020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8" name="f-h-131"/>
          <p:cNvSpPr txBox="1"/>
          <p:nvPr/>
        </p:nvSpPr>
        <p:spPr>
          <a:xfrm>
            <a:off x="8905037" y="160020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Actual profit</a:t>
            </a:r>
            <a:endParaRPr lang="en-US" sz="1800" dirty="0"/>
          </a:p>
        </p:txBody>
      </p:sp>
      <p:sp>
        <p:nvSpPr>
          <p:cNvPr id="19" name="f-f-132"/>
          <p:cNvSpPr txBox="1"/>
          <p:nvPr/>
        </p:nvSpPr>
        <p:spPr>
          <a:xfrm>
            <a:off x="8356397" y="2148840"/>
            <a:ext cx="3058058" cy="777240"/>
          </a:xfrm>
          <a:prstGeom prst="rect">
            <a:avLst/>
          </a:prstGeom>
          <a:noFill/>
          <a:ln/>
        </p:spPr>
        <p:txBody>
          <a:bodyPr wrap="square" lIns="0" tIns="0" rIns="0" bIns="0" rtlCol="0" anchor="t"/>
          <a:lstStyle/>
          <a:p>
            <a:pPr indent="0" marL="0">
              <a:buNone/>
            </a:pPr>
            <a:r>
              <a:rPr lang="en-US" sz="1600" dirty="0">
                <a:solidFill>
                  <a:schemeClr val="tx1"/>
                </a:solidFill>
              </a:rPr>
              <a:t>Revenue of completed phases − their actual cost</a:t>
            </a:r>
            <a:endParaRPr lang="en-US" sz="1600" dirty="0"/>
          </a:p>
        </p:txBody>
      </p:sp>
      <p:sp>
        <p:nvSpPr>
          <p:cNvPr id="20" name="f-e-133"/>
          <p:cNvSpPr txBox="1"/>
          <p:nvPr/>
        </p:nvSpPr>
        <p:spPr>
          <a:xfrm>
            <a:off x="8356397" y="3017520"/>
            <a:ext cx="3058058" cy="411480"/>
          </a:xfrm>
          <a:prstGeom prst="rect">
            <a:avLst/>
          </a:prstGeom>
          <a:noFill/>
          <a:ln/>
        </p:spPr>
        <p:txBody>
          <a:bodyPr wrap="square" lIns="0" tIns="0" rIns="0" bIns="0" rtlCol="0" anchor="t"/>
          <a:lstStyle/>
          <a:p>
            <a:pPr indent="0" marL="0">
              <a:buNone/>
            </a:pPr>
            <a:r>
              <a:rPr lang="en-US" sz="1300" i="1" dirty="0">
                <a:solidFill>
                  <a:schemeClr val="accent2"/>
                </a:solidFill>
              </a:rPr>
              <a:t>Foundation: ₹8 L − ₹5.1 L = ₹2.9 L</a:t>
            </a:r>
            <a:endParaRPr lang="en-US" sz="1300" dirty="0"/>
          </a:p>
        </p:txBody>
      </p:sp>
      <p:sp>
        <p:nvSpPr>
          <p:cNvPr id="21" name="f-bg-134"/>
          <p:cNvSpPr/>
          <p:nvPr/>
        </p:nvSpPr>
        <p:spPr>
          <a:xfrm>
            <a:off x="548640" y="3886200"/>
            <a:ext cx="3515258" cy="2240280"/>
          </a:xfrm>
          <a:prstGeom prst="roundRect">
            <a:avLst>
              <a:gd name="adj" fmla="val 4082"/>
            </a:avLst>
          </a:prstGeom>
          <a:solidFill>
            <a:schemeClr val="bg2"/>
          </a:solidFill>
          <a:ln/>
        </p:spPr>
      </p:sp>
      <p:sp>
        <p:nvSpPr>
          <p:cNvPr id="22" name="badge-135"/>
          <p:cNvSpPr/>
          <p:nvPr/>
        </p:nvSpPr>
        <p:spPr>
          <a:xfrm>
            <a:off x="777240" y="4114800"/>
            <a:ext cx="402336" cy="402336"/>
          </a:xfrm>
          <a:prstGeom prst="ellipse">
            <a:avLst/>
          </a:prstGeom>
          <a:solidFill>
            <a:schemeClr val="accent1"/>
          </a:solidFill>
          <a:ln/>
        </p:spPr>
      </p:sp>
      <p:sp>
        <p:nvSpPr>
          <p:cNvPr id="23" name="badge-n-136"/>
          <p:cNvSpPr txBox="1"/>
          <p:nvPr/>
        </p:nvSpPr>
        <p:spPr>
          <a:xfrm>
            <a:off x="777240" y="411480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4" name="f-h-137"/>
          <p:cNvSpPr txBox="1"/>
          <p:nvPr/>
        </p:nvSpPr>
        <p:spPr>
          <a:xfrm>
            <a:off x="1325880" y="411480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Profit margin</a:t>
            </a:r>
            <a:endParaRPr lang="en-US" sz="1800" dirty="0"/>
          </a:p>
        </p:txBody>
      </p:sp>
      <p:sp>
        <p:nvSpPr>
          <p:cNvPr id="25" name="f-f-138"/>
          <p:cNvSpPr txBox="1"/>
          <p:nvPr/>
        </p:nvSpPr>
        <p:spPr>
          <a:xfrm>
            <a:off x="777240" y="4663440"/>
            <a:ext cx="3058058" cy="777240"/>
          </a:xfrm>
          <a:prstGeom prst="rect">
            <a:avLst/>
          </a:prstGeom>
          <a:noFill/>
          <a:ln/>
        </p:spPr>
        <p:txBody>
          <a:bodyPr wrap="square" lIns="0" tIns="0" rIns="0" bIns="0" rtlCol="0" anchor="t"/>
          <a:lstStyle/>
          <a:p>
            <a:pPr indent="0" marL="0">
              <a:buNone/>
            </a:pPr>
            <a:r>
              <a:rPr lang="en-US" sz="1600" dirty="0">
                <a:solidFill>
                  <a:schemeClr val="tx1"/>
                </a:solidFill>
              </a:rPr>
              <a:t>Actual profit ÷ completed revenue × 100</a:t>
            </a:r>
            <a:endParaRPr lang="en-US" sz="1600" dirty="0"/>
          </a:p>
        </p:txBody>
      </p:sp>
      <p:sp>
        <p:nvSpPr>
          <p:cNvPr id="26" name="f-e-139"/>
          <p:cNvSpPr txBox="1"/>
          <p:nvPr/>
        </p:nvSpPr>
        <p:spPr>
          <a:xfrm>
            <a:off x="777240" y="5532120"/>
            <a:ext cx="3058058" cy="411480"/>
          </a:xfrm>
          <a:prstGeom prst="rect">
            <a:avLst/>
          </a:prstGeom>
          <a:noFill/>
          <a:ln/>
        </p:spPr>
        <p:txBody>
          <a:bodyPr wrap="square" lIns="0" tIns="0" rIns="0" bIns="0" rtlCol="0" anchor="t"/>
          <a:lstStyle/>
          <a:p>
            <a:pPr indent="0" marL="0">
              <a:buNone/>
            </a:pPr>
            <a:r>
              <a:rPr lang="en-US" sz="1300" i="1" dirty="0">
                <a:solidFill>
                  <a:schemeClr val="accent2"/>
                </a:solidFill>
              </a:rPr>
              <a:t>Foundation: ₹2.9 L ÷ ₹8 L = 36.25%</a:t>
            </a:r>
            <a:endParaRPr lang="en-US" sz="1300" dirty="0"/>
          </a:p>
        </p:txBody>
      </p:sp>
      <p:sp>
        <p:nvSpPr>
          <p:cNvPr id="27" name="f-bg-140"/>
          <p:cNvSpPr/>
          <p:nvPr/>
        </p:nvSpPr>
        <p:spPr>
          <a:xfrm>
            <a:off x="4338218" y="3886200"/>
            <a:ext cx="3515258" cy="2240280"/>
          </a:xfrm>
          <a:prstGeom prst="roundRect">
            <a:avLst>
              <a:gd name="adj" fmla="val 4082"/>
            </a:avLst>
          </a:prstGeom>
          <a:solidFill>
            <a:schemeClr val="bg2"/>
          </a:solidFill>
          <a:ln/>
        </p:spPr>
      </p:sp>
      <p:sp>
        <p:nvSpPr>
          <p:cNvPr id="28" name="badge-141"/>
          <p:cNvSpPr/>
          <p:nvPr/>
        </p:nvSpPr>
        <p:spPr>
          <a:xfrm>
            <a:off x="4566818" y="4114800"/>
            <a:ext cx="402336" cy="402336"/>
          </a:xfrm>
          <a:prstGeom prst="ellipse">
            <a:avLst/>
          </a:prstGeom>
          <a:solidFill>
            <a:schemeClr val="accent1"/>
          </a:solidFill>
          <a:ln/>
        </p:spPr>
      </p:sp>
      <p:sp>
        <p:nvSpPr>
          <p:cNvPr id="29" name="badge-n-142"/>
          <p:cNvSpPr txBox="1"/>
          <p:nvPr/>
        </p:nvSpPr>
        <p:spPr>
          <a:xfrm>
            <a:off x="4566818" y="411480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30" name="f-h-143"/>
          <p:cNvSpPr txBox="1"/>
          <p:nvPr/>
        </p:nvSpPr>
        <p:spPr>
          <a:xfrm>
            <a:off x="5115458" y="411480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Billed profit</a:t>
            </a:r>
            <a:endParaRPr lang="en-US" sz="1800" dirty="0"/>
          </a:p>
        </p:txBody>
      </p:sp>
      <p:sp>
        <p:nvSpPr>
          <p:cNvPr id="31" name="f-f-144"/>
          <p:cNvSpPr txBox="1"/>
          <p:nvPr/>
        </p:nvSpPr>
        <p:spPr>
          <a:xfrm>
            <a:off x="4566818" y="4663440"/>
            <a:ext cx="3058058" cy="777240"/>
          </a:xfrm>
          <a:prstGeom prst="rect">
            <a:avLst/>
          </a:prstGeom>
          <a:noFill/>
          <a:ln/>
        </p:spPr>
        <p:txBody>
          <a:bodyPr wrap="square" lIns="0" tIns="0" rIns="0" bIns="0" rtlCol="0" anchor="t"/>
          <a:lstStyle/>
          <a:p>
            <a:pPr indent="0" marL="0">
              <a:buNone/>
            </a:pPr>
            <a:r>
              <a:rPr lang="en-US" sz="1600" dirty="0">
                <a:solidFill>
                  <a:schemeClr val="tx1"/>
                </a:solidFill>
              </a:rPr>
              <a:t>Billed − all actual cost (a cash-style check)</a:t>
            </a:r>
            <a:endParaRPr lang="en-US" sz="1600" dirty="0"/>
          </a:p>
        </p:txBody>
      </p:sp>
      <p:sp>
        <p:nvSpPr>
          <p:cNvPr id="32" name="f-e-145"/>
          <p:cNvSpPr txBox="1"/>
          <p:nvPr/>
        </p:nvSpPr>
        <p:spPr>
          <a:xfrm>
            <a:off x="4566818" y="5532120"/>
            <a:ext cx="3058058" cy="411480"/>
          </a:xfrm>
          <a:prstGeom prst="rect">
            <a:avLst/>
          </a:prstGeom>
          <a:noFill/>
          <a:ln/>
        </p:spPr>
        <p:txBody>
          <a:bodyPr wrap="square" lIns="0" tIns="0" rIns="0" bIns="0" rtlCol="0" anchor="t"/>
          <a:lstStyle/>
          <a:p>
            <a:pPr indent="0" marL="0">
              <a:buNone/>
            </a:pPr>
            <a:r>
              <a:rPr lang="en-US" sz="1300" i="1" dirty="0">
                <a:solidFill>
                  <a:schemeClr val="accent2"/>
                </a:solidFill>
              </a:rPr>
              <a:t>Portfolio: ₹74.5 L − ₹66.37 L = ₹8.13 L</a:t>
            </a:r>
            <a:endParaRPr lang="en-US" sz="1300" dirty="0"/>
          </a:p>
        </p:txBody>
      </p:sp>
      <p:sp>
        <p:nvSpPr>
          <p:cNvPr id="33" name="f-bg-146"/>
          <p:cNvSpPr/>
          <p:nvPr/>
        </p:nvSpPr>
        <p:spPr>
          <a:xfrm>
            <a:off x="8127797" y="3886200"/>
            <a:ext cx="3515258" cy="2240280"/>
          </a:xfrm>
          <a:prstGeom prst="roundRect">
            <a:avLst>
              <a:gd name="adj" fmla="val 4082"/>
            </a:avLst>
          </a:prstGeom>
          <a:solidFill>
            <a:schemeClr val="bg2"/>
          </a:solidFill>
          <a:ln/>
        </p:spPr>
      </p:sp>
      <p:sp>
        <p:nvSpPr>
          <p:cNvPr id="34" name="badge-147"/>
          <p:cNvSpPr/>
          <p:nvPr/>
        </p:nvSpPr>
        <p:spPr>
          <a:xfrm>
            <a:off x="8356397" y="4114800"/>
            <a:ext cx="402336" cy="402336"/>
          </a:xfrm>
          <a:prstGeom prst="ellipse">
            <a:avLst/>
          </a:prstGeom>
          <a:solidFill>
            <a:schemeClr val="accent1"/>
          </a:solidFill>
          <a:ln/>
        </p:spPr>
      </p:sp>
      <p:sp>
        <p:nvSpPr>
          <p:cNvPr id="35" name="badge-n-148"/>
          <p:cNvSpPr txBox="1"/>
          <p:nvPr/>
        </p:nvSpPr>
        <p:spPr>
          <a:xfrm>
            <a:off x="8356397" y="411480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6</a:t>
            </a:r>
            <a:endParaRPr lang="en-US" sz="1500" dirty="0"/>
          </a:p>
        </p:txBody>
      </p:sp>
      <p:sp>
        <p:nvSpPr>
          <p:cNvPr id="36" name="f-h-149"/>
          <p:cNvSpPr txBox="1"/>
          <p:nvPr/>
        </p:nvSpPr>
        <p:spPr>
          <a:xfrm>
            <a:off x="8905037" y="411480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Forecast profit</a:t>
            </a:r>
            <a:endParaRPr lang="en-US" sz="1800" dirty="0"/>
          </a:p>
        </p:txBody>
      </p:sp>
      <p:sp>
        <p:nvSpPr>
          <p:cNvPr id="37" name="f-f-150"/>
          <p:cNvSpPr txBox="1"/>
          <p:nvPr/>
        </p:nvSpPr>
        <p:spPr>
          <a:xfrm>
            <a:off x="8356397" y="4663440"/>
            <a:ext cx="3058058" cy="777240"/>
          </a:xfrm>
          <a:prstGeom prst="rect">
            <a:avLst/>
          </a:prstGeom>
          <a:noFill/>
          <a:ln/>
        </p:spPr>
        <p:txBody>
          <a:bodyPr wrap="square" lIns="0" tIns="0" rIns="0" bIns="0" rtlCol="0" anchor="t"/>
          <a:lstStyle/>
          <a:p>
            <a:pPr indent="0" marL="0">
              <a:buNone/>
            </a:pPr>
            <a:r>
              <a:rPr lang="en-US" sz="1600" dirty="0">
                <a:solidFill>
                  <a:schemeClr val="tx1"/>
                </a:solidFill>
              </a:rPr>
              <a:t>Final revenue − expected final cost; unfinished phases at max(budget, cost so far)</a:t>
            </a:r>
            <a:endParaRPr lang="en-US" sz="1600" dirty="0"/>
          </a:p>
        </p:txBody>
      </p:sp>
      <p:sp>
        <p:nvSpPr>
          <p:cNvPr id="38" name="f-e-151"/>
          <p:cNvSpPr txBox="1"/>
          <p:nvPr/>
        </p:nvSpPr>
        <p:spPr>
          <a:xfrm>
            <a:off x="8356397" y="5532120"/>
            <a:ext cx="3058058" cy="411480"/>
          </a:xfrm>
          <a:prstGeom prst="rect">
            <a:avLst/>
          </a:prstGeom>
          <a:noFill/>
          <a:ln/>
        </p:spPr>
        <p:txBody>
          <a:bodyPr wrap="square" lIns="0" tIns="0" rIns="0" bIns="0" rtlCol="0" anchor="t"/>
          <a:lstStyle/>
          <a:p>
            <a:pPr indent="0" marL="0">
              <a:buNone/>
            </a:pPr>
            <a:r>
              <a:rPr lang="en-US" sz="1300" i="1" dirty="0">
                <a:solidFill>
                  <a:schemeClr val="accent2"/>
                </a:solidFill>
              </a:rPr>
              <a:t>Portfolio: ₹1.75 Cr − ₹1.16 Cr = ₹59.34 L</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Worked example: Foundation made a 36.25% margin</a:t>
            </a:r>
            <a:endParaRPr lang="en-US" sz="3000" dirty="0"/>
          </a:p>
        </p:txBody>
      </p:sp>
      <p:graphicFrame>
        <p:nvGraphicFramePr>
          <p:cNvPr id="3" name="chart-foundation-152" descr=""/>
          <p:cNvGraphicFramePr/>
          <p:nvPr/>
        </p:nvGraphicFramePr>
        <p:xfrm>
          <a:off x="548640" y="132588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4" name="stat-bg-153"/>
          <p:cNvSpPr/>
          <p:nvPr/>
        </p:nvSpPr>
        <p:spPr>
          <a:xfrm>
            <a:off x="7543800" y="1325880"/>
            <a:ext cx="4099255" cy="960120"/>
          </a:xfrm>
          <a:prstGeom prst="roundRect">
            <a:avLst>
              <a:gd name="adj" fmla="val 9524"/>
            </a:avLst>
          </a:prstGeom>
          <a:solidFill>
            <a:schemeClr val="bg2"/>
          </a:solidFill>
          <a:ln/>
        </p:spPr>
      </p:sp>
      <p:sp>
        <p:nvSpPr>
          <p:cNvPr id="5" name="stat-l-154"/>
          <p:cNvSpPr txBox="1"/>
          <p:nvPr/>
        </p:nvSpPr>
        <p:spPr>
          <a:xfrm>
            <a:off x="7726680" y="1463040"/>
            <a:ext cx="3733495"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REVENUE (100% COMPLETE)</a:t>
            </a:r>
            <a:endParaRPr lang="en-US" sz="1100" dirty="0"/>
          </a:p>
        </p:txBody>
      </p:sp>
      <p:sp>
        <p:nvSpPr>
          <p:cNvPr id="6" name="stat-v-155"/>
          <p:cNvSpPr txBox="1"/>
          <p:nvPr/>
        </p:nvSpPr>
        <p:spPr>
          <a:xfrm>
            <a:off x="7726680" y="1737360"/>
            <a:ext cx="3733495" cy="594360"/>
          </a:xfrm>
          <a:prstGeom prst="rect">
            <a:avLst/>
          </a:prstGeom>
          <a:noFill/>
          <a:ln/>
        </p:spPr>
        <p:txBody>
          <a:bodyPr wrap="square" lIns="0" tIns="0" rIns="0" bIns="0" rtlCol="0" anchor="ctr"/>
          <a:lstStyle/>
          <a:p>
            <a:pPr indent="0" marL="0">
              <a:buNone/>
            </a:pPr>
            <a:r>
              <a:rPr lang="en-US" sz="3000" b="1" dirty="0">
                <a:solidFill>
                  <a:schemeClr val="tx2"/>
                </a:solidFill>
              </a:rPr>
              <a:t>₹8,00,000</a:t>
            </a:r>
            <a:endParaRPr lang="en-US" sz="3000" dirty="0"/>
          </a:p>
        </p:txBody>
      </p:sp>
      <p:sp>
        <p:nvSpPr>
          <p:cNvPr id="7" name="stat-bg-156"/>
          <p:cNvSpPr/>
          <p:nvPr/>
        </p:nvSpPr>
        <p:spPr>
          <a:xfrm>
            <a:off x="7543800" y="2423160"/>
            <a:ext cx="4099255" cy="960120"/>
          </a:xfrm>
          <a:prstGeom prst="roundRect">
            <a:avLst>
              <a:gd name="adj" fmla="val 9524"/>
            </a:avLst>
          </a:prstGeom>
          <a:solidFill>
            <a:schemeClr val="bg2"/>
          </a:solidFill>
          <a:ln/>
        </p:spPr>
      </p:sp>
      <p:sp>
        <p:nvSpPr>
          <p:cNvPr id="8" name="stat-l-157"/>
          <p:cNvSpPr txBox="1"/>
          <p:nvPr/>
        </p:nvSpPr>
        <p:spPr>
          <a:xfrm>
            <a:off x="7726680" y="2560320"/>
            <a:ext cx="3733495"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ACTUAL COST</a:t>
            </a:r>
            <a:endParaRPr lang="en-US" sz="1100" dirty="0"/>
          </a:p>
        </p:txBody>
      </p:sp>
      <p:sp>
        <p:nvSpPr>
          <p:cNvPr id="9" name="stat-v-158"/>
          <p:cNvSpPr txBox="1"/>
          <p:nvPr/>
        </p:nvSpPr>
        <p:spPr>
          <a:xfrm>
            <a:off x="7726680" y="2834640"/>
            <a:ext cx="3733495" cy="594360"/>
          </a:xfrm>
          <a:prstGeom prst="rect">
            <a:avLst/>
          </a:prstGeom>
          <a:noFill/>
          <a:ln/>
        </p:spPr>
        <p:txBody>
          <a:bodyPr wrap="square" lIns="0" tIns="0" rIns="0" bIns="0" rtlCol="0" anchor="ctr"/>
          <a:lstStyle/>
          <a:p>
            <a:pPr indent="0" marL="0">
              <a:buNone/>
            </a:pPr>
            <a:r>
              <a:rPr lang="en-US" sz="3000" b="1" dirty="0">
                <a:solidFill>
                  <a:schemeClr val="tx2"/>
                </a:solidFill>
              </a:rPr>
              <a:t>₹5,10,000</a:t>
            </a:r>
            <a:endParaRPr lang="en-US" sz="3000" dirty="0"/>
          </a:p>
        </p:txBody>
      </p:sp>
      <p:sp>
        <p:nvSpPr>
          <p:cNvPr id="10" name="stat-bg-159"/>
          <p:cNvSpPr/>
          <p:nvPr/>
        </p:nvSpPr>
        <p:spPr>
          <a:xfrm>
            <a:off x="7543800" y="3520440"/>
            <a:ext cx="4099255" cy="960120"/>
          </a:xfrm>
          <a:prstGeom prst="roundRect">
            <a:avLst>
              <a:gd name="adj" fmla="val 9524"/>
            </a:avLst>
          </a:prstGeom>
          <a:solidFill>
            <a:schemeClr val="bg2"/>
          </a:solidFill>
          <a:ln/>
        </p:spPr>
      </p:sp>
      <p:sp>
        <p:nvSpPr>
          <p:cNvPr id="11" name="stat-l-160"/>
          <p:cNvSpPr txBox="1"/>
          <p:nvPr/>
        </p:nvSpPr>
        <p:spPr>
          <a:xfrm>
            <a:off x="7726680" y="3657600"/>
            <a:ext cx="3733495"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ACTUAL PROFIT</a:t>
            </a:r>
            <a:endParaRPr lang="en-US" sz="1100" dirty="0"/>
          </a:p>
        </p:txBody>
      </p:sp>
      <p:sp>
        <p:nvSpPr>
          <p:cNvPr id="12" name="stat-v-161"/>
          <p:cNvSpPr txBox="1"/>
          <p:nvPr/>
        </p:nvSpPr>
        <p:spPr>
          <a:xfrm>
            <a:off x="7726680" y="3931920"/>
            <a:ext cx="3733495" cy="594360"/>
          </a:xfrm>
          <a:prstGeom prst="rect">
            <a:avLst/>
          </a:prstGeom>
          <a:noFill/>
          <a:ln/>
        </p:spPr>
        <p:txBody>
          <a:bodyPr wrap="square" lIns="0" tIns="0" rIns="0" bIns="0" rtlCol="0" anchor="ctr"/>
          <a:lstStyle/>
          <a:p>
            <a:pPr indent="0" marL="0">
              <a:buNone/>
            </a:pPr>
            <a:r>
              <a:rPr lang="en-US" sz="3000" b="1" dirty="0">
                <a:solidFill>
                  <a:schemeClr val="accent3"/>
                </a:solidFill>
              </a:rPr>
              <a:t>₹2,90,000</a:t>
            </a:r>
            <a:endParaRPr lang="en-US" sz="3000" dirty="0"/>
          </a:p>
        </p:txBody>
      </p:sp>
      <p:sp>
        <p:nvSpPr>
          <p:cNvPr id="13" name="stat-bg-162"/>
          <p:cNvSpPr/>
          <p:nvPr/>
        </p:nvSpPr>
        <p:spPr>
          <a:xfrm>
            <a:off x="7543800" y="4617720"/>
            <a:ext cx="4099255" cy="960120"/>
          </a:xfrm>
          <a:prstGeom prst="roundRect">
            <a:avLst>
              <a:gd name="adj" fmla="val 9524"/>
            </a:avLst>
          </a:prstGeom>
          <a:solidFill>
            <a:schemeClr val="bg2"/>
          </a:solidFill>
          <a:ln/>
        </p:spPr>
      </p:sp>
      <p:sp>
        <p:nvSpPr>
          <p:cNvPr id="14" name="stat-l-163"/>
          <p:cNvSpPr txBox="1"/>
          <p:nvPr/>
        </p:nvSpPr>
        <p:spPr>
          <a:xfrm>
            <a:off x="7726680" y="4754880"/>
            <a:ext cx="3733495"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PROFIT MARGIN</a:t>
            </a:r>
            <a:endParaRPr lang="en-US" sz="1100" dirty="0"/>
          </a:p>
        </p:txBody>
      </p:sp>
      <p:sp>
        <p:nvSpPr>
          <p:cNvPr id="15" name="stat-v-164"/>
          <p:cNvSpPr txBox="1"/>
          <p:nvPr/>
        </p:nvSpPr>
        <p:spPr>
          <a:xfrm>
            <a:off x="7726680" y="5029200"/>
            <a:ext cx="3733495" cy="594360"/>
          </a:xfrm>
          <a:prstGeom prst="rect">
            <a:avLst/>
          </a:prstGeom>
          <a:noFill/>
          <a:ln/>
        </p:spPr>
        <p:txBody>
          <a:bodyPr wrap="square" lIns="0" tIns="0" rIns="0" bIns="0" rtlCol="0" anchor="ctr"/>
          <a:lstStyle/>
          <a:p>
            <a:pPr indent="0" marL="0">
              <a:buNone/>
            </a:pPr>
            <a:r>
              <a:rPr lang="en-US" sz="3000" b="1" dirty="0">
                <a:solidFill>
                  <a:schemeClr val="accent3"/>
                </a:solidFill>
              </a:rPr>
              <a:t>36.25%</a:t>
            </a:r>
            <a:endParaRPr lang="en-US" sz="3000" dirty="0"/>
          </a:p>
        </p:txBody>
      </p:sp>
      <p:sp>
        <p:nvSpPr>
          <p:cNvPr id="16" name="fd-note-165"/>
          <p:cNvSpPr txBox="1"/>
          <p:nvPr/>
        </p:nvSpPr>
        <p:spPr>
          <a:xfrm>
            <a:off x="7543800" y="5669280"/>
            <a:ext cx="4099255" cy="320040"/>
          </a:xfrm>
          <a:prstGeom prst="rect">
            <a:avLst/>
          </a:prstGeom>
          <a:noFill/>
          <a:ln/>
        </p:spPr>
        <p:txBody>
          <a:bodyPr wrap="square" lIns="0" tIns="0" rIns="0" bIns="0" rtlCol="0" anchor="ctr"/>
          <a:lstStyle/>
          <a:p>
            <a:pPr indent="0" marL="0">
              <a:buNone/>
            </a:pPr>
            <a:r>
              <a:rPr lang="en-US" sz="1300" b="1" dirty="0">
                <a:solidFill>
                  <a:schemeClr val="accent3"/>
                </a:solidFill>
              </a:rPr>
              <a:t>₹40,000 under the ₹5,50,000 budget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Profit is not cash: ABC Villa shows profit but negative cash</a:t>
            </a:r>
            <a:endParaRPr lang="en-US" sz="3000" dirty="0"/>
          </a:p>
        </p:txBody>
      </p:sp>
      <p:sp>
        <p:nvSpPr>
          <p:cNvPr id="3" name="pc-bg-166"/>
          <p:cNvSpPr/>
          <p:nvPr/>
        </p:nvSpPr>
        <p:spPr>
          <a:xfrm>
            <a:off x="548640" y="1371600"/>
            <a:ext cx="5364328" cy="3566160"/>
          </a:xfrm>
          <a:prstGeom prst="roundRect">
            <a:avLst>
              <a:gd name="adj" fmla="val 2564"/>
            </a:avLst>
          </a:prstGeom>
          <a:solidFill>
            <a:schemeClr val="bg2"/>
          </a:solidFill>
          <a:ln/>
        </p:spPr>
      </p:sp>
      <p:sp>
        <p:nvSpPr>
          <p:cNvPr id="4" name="pc-h-167"/>
          <p:cNvSpPr txBox="1"/>
          <p:nvPr/>
        </p:nvSpPr>
        <p:spPr>
          <a:xfrm>
            <a:off x="868680" y="1554480"/>
            <a:ext cx="4724248" cy="411480"/>
          </a:xfrm>
          <a:prstGeom prst="rect">
            <a:avLst/>
          </a:prstGeom>
          <a:noFill/>
          <a:ln/>
        </p:spPr>
        <p:txBody>
          <a:bodyPr wrap="square" lIns="0" tIns="0" rIns="0" bIns="0" rtlCol="0" anchor="ctr"/>
          <a:lstStyle/>
          <a:p>
            <a:pPr indent="0" marL="0">
              <a:buNone/>
            </a:pPr>
            <a:r>
              <a:rPr lang="en-US" sz="2000" b="1" dirty="0">
                <a:solidFill>
                  <a:schemeClr val="tx2"/>
                </a:solidFill>
              </a:rPr>
              <a:t>Profit view</a:t>
            </a:r>
            <a:endParaRPr lang="en-US" sz="2000" dirty="0"/>
          </a:p>
        </p:txBody>
      </p:sp>
      <p:sp>
        <p:nvSpPr>
          <p:cNvPr id="5" name="pc-l-168"/>
          <p:cNvSpPr txBox="1"/>
          <p:nvPr/>
        </p:nvSpPr>
        <p:spPr>
          <a:xfrm>
            <a:off x="868680" y="2148840"/>
            <a:ext cx="2986888" cy="411480"/>
          </a:xfrm>
          <a:prstGeom prst="rect">
            <a:avLst/>
          </a:prstGeom>
          <a:noFill/>
          <a:ln/>
        </p:spPr>
        <p:txBody>
          <a:bodyPr wrap="square" lIns="0" tIns="0" rIns="0" bIns="0" rtlCol="0" anchor="ctr"/>
          <a:lstStyle/>
          <a:p>
            <a:pPr indent="0" marL="0">
              <a:buNone/>
            </a:pPr>
            <a:r>
              <a:rPr lang="en-US" sz="1600" dirty="0">
                <a:solidFill>
                  <a:schemeClr val="tx1"/>
                </a:solidFill>
              </a:rPr>
              <a:t>Completed phases revenue</a:t>
            </a:r>
            <a:endParaRPr lang="en-US" sz="1600" dirty="0"/>
          </a:p>
        </p:txBody>
      </p:sp>
      <p:sp>
        <p:nvSpPr>
          <p:cNvPr id="6" name="pc-v-169"/>
          <p:cNvSpPr txBox="1"/>
          <p:nvPr/>
        </p:nvSpPr>
        <p:spPr>
          <a:xfrm>
            <a:off x="3764128" y="2148840"/>
            <a:ext cx="1828800" cy="411480"/>
          </a:xfrm>
          <a:prstGeom prst="rect">
            <a:avLst/>
          </a:prstGeom>
          <a:noFill/>
          <a:ln/>
        </p:spPr>
        <p:txBody>
          <a:bodyPr wrap="square" lIns="0" tIns="0" rIns="0" bIns="0" rtlCol="0" anchor="ctr"/>
          <a:lstStyle/>
          <a:p>
            <a:pPr algn="r" indent="0" marL="0">
              <a:buNone/>
            </a:pPr>
            <a:r>
              <a:rPr lang="en-US" sz="1600" dirty="0">
                <a:solidFill>
                  <a:schemeClr val="tx1"/>
                </a:solidFill>
              </a:rPr>
              <a:t>₹8,00,000</a:t>
            </a:r>
            <a:endParaRPr lang="en-US" sz="1600" dirty="0"/>
          </a:p>
        </p:txBody>
      </p:sp>
      <p:sp>
        <p:nvSpPr>
          <p:cNvPr id="7" name="pc-l-170"/>
          <p:cNvSpPr txBox="1"/>
          <p:nvPr/>
        </p:nvSpPr>
        <p:spPr>
          <a:xfrm>
            <a:off x="868680" y="2651760"/>
            <a:ext cx="2986888" cy="411480"/>
          </a:xfrm>
          <a:prstGeom prst="rect">
            <a:avLst/>
          </a:prstGeom>
          <a:noFill/>
          <a:ln/>
        </p:spPr>
        <p:txBody>
          <a:bodyPr wrap="square" lIns="0" tIns="0" rIns="0" bIns="0" rtlCol="0" anchor="ctr"/>
          <a:lstStyle/>
          <a:p>
            <a:pPr indent="0" marL="0">
              <a:buNone/>
            </a:pPr>
            <a:r>
              <a:rPr lang="en-US" sz="1600" dirty="0">
                <a:solidFill>
                  <a:schemeClr val="tx1"/>
                </a:solidFill>
              </a:rPr>
              <a:t>− Their actual cost</a:t>
            </a:r>
            <a:endParaRPr lang="en-US" sz="1600" dirty="0"/>
          </a:p>
        </p:txBody>
      </p:sp>
      <p:sp>
        <p:nvSpPr>
          <p:cNvPr id="8" name="pc-v-171"/>
          <p:cNvSpPr txBox="1"/>
          <p:nvPr/>
        </p:nvSpPr>
        <p:spPr>
          <a:xfrm>
            <a:off x="3764128" y="2651760"/>
            <a:ext cx="1828800" cy="411480"/>
          </a:xfrm>
          <a:prstGeom prst="rect">
            <a:avLst/>
          </a:prstGeom>
          <a:noFill/>
          <a:ln/>
        </p:spPr>
        <p:txBody>
          <a:bodyPr wrap="square" lIns="0" tIns="0" rIns="0" bIns="0" rtlCol="0" anchor="ctr"/>
          <a:lstStyle/>
          <a:p>
            <a:pPr algn="r" indent="0" marL="0">
              <a:buNone/>
            </a:pPr>
            <a:r>
              <a:rPr lang="en-US" sz="1600" dirty="0">
                <a:solidFill>
                  <a:schemeClr val="tx1"/>
                </a:solidFill>
              </a:rPr>
              <a:t>−₹5,10,000</a:t>
            </a:r>
            <a:endParaRPr lang="en-US" sz="1600" dirty="0"/>
          </a:p>
        </p:txBody>
      </p:sp>
      <p:sp>
        <p:nvSpPr>
          <p:cNvPr id="9" name="pc-l-172"/>
          <p:cNvSpPr txBox="1"/>
          <p:nvPr/>
        </p:nvSpPr>
        <p:spPr>
          <a:xfrm>
            <a:off x="868680" y="3154680"/>
            <a:ext cx="2986888" cy="411480"/>
          </a:xfrm>
          <a:prstGeom prst="rect">
            <a:avLst/>
          </a:prstGeom>
          <a:noFill/>
          <a:ln/>
        </p:spPr>
        <p:txBody>
          <a:bodyPr wrap="square" lIns="0" tIns="0" rIns="0" bIns="0" rtlCol="0" anchor="ctr"/>
          <a:lstStyle/>
          <a:p>
            <a:pPr indent="0" marL="0">
              <a:buNone/>
            </a:pPr>
            <a:r>
              <a:rPr lang="en-US" sz="1600" dirty="0">
                <a:solidFill>
                  <a:schemeClr val="tx1"/>
                </a:solidFill>
              </a:rPr>
              <a:t>Work in progress (excluded)</a:t>
            </a:r>
            <a:endParaRPr lang="en-US" sz="1600" dirty="0"/>
          </a:p>
        </p:txBody>
      </p:sp>
      <p:sp>
        <p:nvSpPr>
          <p:cNvPr id="10" name="pc-v-173"/>
          <p:cNvSpPr txBox="1"/>
          <p:nvPr/>
        </p:nvSpPr>
        <p:spPr>
          <a:xfrm>
            <a:off x="3764128" y="3154680"/>
            <a:ext cx="1828800" cy="411480"/>
          </a:xfrm>
          <a:prstGeom prst="rect">
            <a:avLst/>
          </a:prstGeom>
          <a:noFill/>
          <a:ln/>
        </p:spPr>
        <p:txBody>
          <a:bodyPr wrap="square" lIns="0" tIns="0" rIns="0" bIns="0" rtlCol="0" anchor="ctr"/>
          <a:lstStyle/>
          <a:p>
            <a:pPr algn="r" indent="0" marL="0">
              <a:buNone/>
            </a:pPr>
            <a:r>
              <a:rPr lang="en-US" sz="1600" dirty="0">
                <a:solidFill>
                  <a:schemeClr val="tx1"/>
                </a:solidFill>
              </a:rPr>
              <a:t>₹9,51,400</a:t>
            </a:r>
            <a:endParaRPr lang="en-US" sz="1600" dirty="0"/>
          </a:p>
        </p:txBody>
      </p:sp>
      <p:sp>
        <p:nvSpPr>
          <p:cNvPr id="11" name="pc-rule-174"/>
          <p:cNvSpPr/>
          <p:nvPr/>
        </p:nvSpPr>
        <p:spPr>
          <a:xfrm>
            <a:off x="868680" y="3794760"/>
            <a:ext cx="4724248" cy="0"/>
          </a:xfrm>
          <a:prstGeom prst="line">
            <a:avLst/>
          </a:prstGeom>
          <a:noFill/>
          <a:ln w="12700">
            <a:solidFill>
              <a:srgbClr val="94A3B8"/>
            </a:solidFill>
            <a:prstDash val="solid"/>
          </a:ln>
        </p:spPr>
      </p:sp>
      <p:sp>
        <p:nvSpPr>
          <p:cNvPr id="12" name="pc-tl-175"/>
          <p:cNvSpPr txBox="1"/>
          <p:nvPr/>
        </p:nvSpPr>
        <p:spPr>
          <a:xfrm>
            <a:off x="868680" y="3931920"/>
            <a:ext cx="2712568" cy="685800"/>
          </a:xfrm>
          <a:prstGeom prst="rect">
            <a:avLst/>
          </a:prstGeom>
          <a:noFill/>
          <a:ln/>
        </p:spPr>
        <p:txBody>
          <a:bodyPr wrap="square" lIns="0" tIns="0" rIns="0" bIns="0" rtlCol="0" anchor="ctr"/>
          <a:lstStyle/>
          <a:p>
            <a:pPr indent="0" marL="0">
              <a:buNone/>
            </a:pPr>
            <a:r>
              <a:rPr lang="en-US" sz="1800" b="1" dirty="0">
                <a:solidFill>
                  <a:schemeClr val="tx2"/>
                </a:solidFill>
              </a:rPr>
              <a:t>Actual profit</a:t>
            </a:r>
            <a:endParaRPr lang="en-US" sz="1800" dirty="0"/>
          </a:p>
        </p:txBody>
      </p:sp>
      <p:sp>
        <p:nvSpPr>
          <p:cNvPr id="13" name="pc-tv-176"/>
          <p:cNvSpPr txBox="1"/>
          <p:nvPr/>
        </p:nvSpPr>
        <p:spPr>
          <a:xfrm>
            <a:off x="3398368" y="3931920"/>
            <a:ext cx="2194560" cy="685800"/>
          </a:xfrm>
          <a:prstGeom prst="rect">
            <a:avLst/>
          </a:prstGeom>
          <a:noFill/>
          <a:ln/>
        </p:spPr>
        <p:txBody>
          <a:bodyPr wrap="square" lIns="0" tIns="0" rIns="0" bIns="0" rtlCol="0" anchor="ctr"/>
          <a:lstStyle/>
          <a:p>
            <a:pPr algn="r" indent="0" marL="0">
              <a:buNone/>
            </a:pPr>
            <a:r>
              <a:rPr lang="en-US" sz="3000" b="1" dirty="0">
                <a:solidFill>
                  <a:schemeClr val="accent3"/>
                </a:solidFill>
              </a:rPr>
              <a:t>₹2,90,000</a:t>
            </a:r>
            <a:endParaRPr lang="en-US" sz="3000" dirty="0"/>
          </a:p>
        </p:txBody>
      </p:sp>
      <p:sp>
        <p:nvSpPr>
          <p:cNvPr id="14" name="pc-bg-177"/>
          <p:cNvSpPr/>
          <p:nvPr/>
        </p:nvSpPr>
        <p:spPr>
          <a:xfrm>
            <a:off x="6278728" y="1371600"/>
            <a:ext cx="5364328" cy="3566160"/>
          </a:xfrm>
          <a:prstGeom prst="roundRect">
            <a:avLst>
              <a:gd name="adj" fmla="val 2564"/>
            </a:avLst>
          </a:prstGeom>
          <a:solidFill>
            <a:schemeClr val="bg2"/>
          </a:solidFill>
          <a:ln/>
        </p:spPr>
      </p:sp>
      <p:sp>
        <p:nvSpPr>
          <p:cNvPr id="15" name="pc-h-178"/>
          <p:cNvSpPr txBox="1"/>
          <p:nvPr/>
        </p:nvSpPr>
        <p:spPr>
          <a:xfrm>
            <a:off x="6598768" y="1554480"/>
            <a:ext cx="4724248" cy="411480"/>
          </a:xfrm>
          <a:prstGeom prst="rect">
            <a:avLst/>
          </a:prstGeom>
          <a:noFill/>
          <a:ln/>
        </p:spPr>
        <p:txBody>
          <a:bodyPr wrap="square" lIns="0" tIns="0" rIns="0" bIns="0" rtlCol="0" anchor="ctr"/>
          <a:lstStyle/>
          <a:p>
            <a:pPr indent="0" marL="0">
              <a:buNone/>
            </a:pPr>
            <a:r>
              <a:rPr lang="en-US" sz="2000" b="1" dirty="0">
                <a:solidFill>
                  <a:schemeClr val="tx2"/>
                </a:solidFill>
              </a:rPr>
              <a:t>Cash view</a:t>
            </a:r>
            <a:endParaRPr lang="en-US" sz="2000" dirty="0"/>
          </a:p>
        </p:txBody>
      </p:sp>
      <p:sp>
        <p:nvSpPr>
          <p:cNvPr id="16" name="pc-l-179"/>
          <p:cNvSpPr txBox="1"/>
          <p:nvPr/>
        </p:nvSpPr>
        <p:spPr>
          <a:xfrm>
            <a:off x="6598768" y="2148840"/>
            <a:ext cx="2986888" cy="411480"/>
          </a:xfrm>
          <a:prstGeom prst="rect">
            <a:avLst/>
          </a:prstGeom>
          <a:noFill/>
          <a:ln/>
        </p:spPr>
        <p:txBody>
          <a:bodyPr wrap="square" lIns="0" tIns="0" rIns="0" bIns="0" rtlCol="0" anchor="ctr"/>
          <a:lstStyle/>
          <a:p>
            <a:pPr indent="0" marL="0">
              <a:buNone/>
            </a:pPr>
            <a:r>
              <a:rPr lang="en-US" sz="1600" dirty="0">
                <a:solidFill>
                  <a:schemeClr val="tx1"/>
                </a:solidFill>
              </a:rPr>
              <a:t>Client receipts</a:t>
            </a:r>
            <a:endParaRPr lang="en-US" sz="1600" dirty="0"/>
          </a:p>
        </p:txBody>
      </p:sp>
      <p:sp>
        <p:nvSpPr>
          <p:cNvPr id="17" name="pc-v-180"/>
          <p:cNvSpPr txBox="1"/>
          <p:nvPr/>
        </p:nvSpPr>
        <p:spPr>
          <a:xfrm>
            <a:off x="9494215" y="2148840"/>
            <a:ext cx="1828800" cy="411480"/>
          </a:xfrm>
          <a:prstGeom prst="rect">
            <a:avLst/>
          </a:prstGeom>
          <a:noFill/>
          <a:ln/>
        </p:spPr>
        <p:txBody>
          <a:bodyPr wrap="square" lIns="0" tIns="0" rIns="0" bIns="0" rtlCol="0" anchor="ctr"/>
          <a:lstStyle/>
          <a:p>
            <a:pPr algn="r" indent="0" marL="0">
              <a:buNone/>
            </a:pPr>
            <a:r>
              <a:rPr lang="en-US" sz="1600" dirty="0">
                <a:solidFill>
                  <a:schemeClr val="tx1"/>
                </a:solidFill>
              </a:rPr>
              <a:t>₹9,00,000</a:t>
            </a:r>
            <a:endParaRPr lang="en-US" sz="1600" dirty="0"/>
          </a:p>
        </p:txBody>
      </p:sp>
      <p:sp>
        <p:nvSpPr>
          <p:cNvPr id="18" name="pc-l-181"/>
          <p:cNvSpPr txBox="1"/>
          <p:nvPr/>
        </p:nvSpPr>
        <p:spPr>
          <a:xfrm>
            <a:off x="6598768" y="2651760"/>
            <a:ext cx="2986888" cy="411480"/>
          </a:xfrm>
          <a:prstGeom prst="rect">
            <a:avLst/>
          </a:prstGeom>
          <a:noFill/>
          <a:ln/>
        </p:spPr>
        <p:txBody>
          <a:bodyPr wrap="square" lIns="0" tIns="0" rIns="0" bIns="0" rtlCol="0" anchor="ctr"/>
          <a:lstStyle/>
          <a:p>
            <a:pPr indent="0" marL="0">
              <a:buNone/>
            </a:pPr>
            <a:r>
              <a:rPr lang="en-US" sz="1600" dirty="0">
                <a:solidFill>
                  <a:schemeClr val="tx1"/>
                </a:solidFill>
              </a:rPr>
              <a:t>− Supplier payments</a:t>
            </a:r>
            <a:endParaRPr lang="en-US" sz="1600" dirty="0"/>
          </a:p>
        </p:txBody>
      </p:sp>
      <p:sp>
        <p:nvSpPr>
          <p:cNvPr id="19" name="pc-v-182"/>
          <p:cNvSpPr txBox="1"/>
          <p:nvPr/>
        </p:nvSpPr>
        <p:spPr>
          <a:xfrm>
            <a:off x="9494215" y="2651760"/>
            <a:ext cx="1828800" cy="411480"/>
          </a:xfrm>
          <a:prstGeom prst="rect">
            <a:avLst/>
          </a:prstGeom>
          <a:noFill/>
          <a:ln/>
        </p:spPr>
        <p:txBody>
          <a:bodyPr wrap="square" lIns="0" tIns="0" rIns="0" bIns="0" rtlCol="0" anchor="ctr"/>
          <a:lstStyle/>
          <a:p>
            <a:pPr algn="r" indent="0" marL="0">
              <a:buNone/>
            </a:pPr>
            <a:r>
              <a:rPr lang="en-US" sz="1600" dirty="0">
                <a:solidFill>
                  <a:schemeClr val="tx1"/>
                </a:solidFill>
              </a:rPr>
              <a:t>−₹6,94,000</a:t>
            </a:r>
            <a:endParaRPr lang="en-US" sz="1600" dirty="0"/>
          </a:p>
        </p:txBody>
      </p:sp>
      <p:sp>
        <p:nvSpPr>
          <p:cNvPr id="20" name="pc-l-183"/>
          <p:cNvSpPr txBox="1"/>
          <p:nvPr/>
        </p:nvSpPr>
        <p:spPr>
          <a:xfrm>
            <a:off x="6598768" y="3154680"/>
            <a:ext cx="2986888" cy="411480"/>
          </a:xfrm>
          <a:prstGeom prst="rect">
            <a:avLst/>
          </a:prstGeom>
          <a:noFill/>
          <a:ln/>
        </p:spPr>
        <p:txBody>
          <a:bodyPr wrap="square" lIns="0" tIns="0" rIns="0" bIns="0" rtlCol="0" anchor="ctr"/>
          <a:lstStyle/>
          <a:p>
            <a:pPr indent="0" marL="0">
              <a:buNone/>
            </a:pPr>
            <a:r>
              <a:rPr lang="en-US" sz="1600" dirty="0">
                <a:solidFill>
                  <a:schemeClr val="tx1"/>
                </a:solidFill>
              </a:rPr>
              <a:t>− Own labour &amp; site payments</a:t>
            </a:r>
            <a:endParaRPr lang="en-US" sz="1600" dirty="0"/>
          </a:p>
        </p:txBody>
      </p:sp>
      <p:sp>
        <p:nvSpPr>
          <p:cNvPr id="21" name="pc-v-184"/>
          <p:cNvSpPr txBox="1"/>
          <p:nvPr/>
        </p:nvSpPr>
        <p:spPr>
          <a:xfrm>
            <a:off x="9494215" y="3154680"/>
            <a:ext cx="1828800" cy="411480"/>
          </a:xfrm>
          <a:prstGeom prst="rect">
            <a:avLst/>
          </a:prstGeom>
          <a:noFill/>
          <a:ln/>
        </p:spPr>
        <p:txBody>
          <a:bodyPr wrap="square" lIns="0" tIns="0" rIns="0" bIns="0" rtlCol="0" anchor="ctr"/>
          <a:lstStyle/>
          <a:p>
            <a:pPr algn="r" indent="0" marL="0">
              <a:buNone/>
            </a:pPr>
            <a:r>
              <a:rPr lang="en-US" sz="1600" dirty="0">
                <a:solidFill>
                  <a:schemeClr val="tx1"/>
                </a:solidFill>
              </a:rPr>
              <a:t>−₹2,75,800</a:t>
            </a:r>
            <a:endParaRPr lang="en-US" sz="1600" dirty="0"/>
          </a:p>
        </p:txBody>
      </p:sp>
      <p:sp>
        <p:nvSpPr>
          <p:cNvPr id="22" name="pc-rule-185"/>
          <p:cNvSpPr/>
          <p:nvPr/>
        </p:nvSpPr>
        <p:spPr>
          <a:xfrm>
            <a:off x="6598768" y="3794760"/>
            <a:ext cx="4724248" cy="0"/>
          </a:xfrm>
          <a:prstGeom prst="line">
            <a:avLst/>
          </a:prstGeom>
          <a:noFill/>
          <a:ln w="12700">
            <a:solidFill>
              <a:srgbClr val="94A3B8"/>
            </a:solidFill>
            <a:prstDash val="solid"/>
          </a:ln>
        </p:spPr>
      </p:sp>
      <p:sp>
        <p:nvSpPr>
          <p:cNvPr id="23" name="pc-tl-186"/>
          <p:cNvSpPr txBox="1"/>
          <p:nvPr/>
        </p:nvSpPr>
        <p:spPr>
          <a:xfrm>
            <a:off x="6598768" y="3931920"/>
            <a:ext cx="2712568" cy="685800"/>
          </a:xfrm>
          <a:prstGeom prst="rect">
            <a:avLst/>
          </a:prstGeom>
          <a:noFill/>
          <a:ln/>
        </p:spPr>
        <p:txBody>
          <a:bodyPr wrap="square" lIns="0" tIns="0" rIns="0" bIns="0" rtlCol="0" anchor="ctr"/>
          <a:lstStyle/>
          <a:p>
            <a:pPr indent="0" marL="0">
              <a:buNone/>
            </a:pPr>
            <a:r>
              <a:rPr lang="en-US" sz="1800" b="1" dirty="0">
                <a:solidFill>
                  <a:schemeClr val="tx2"/>
                </a:solidFill>
              </a:rPr>
              <a:t>Cash position</a:t>
            </a:r>
            <a:endParaRPr lang="en-US" sz="1800" dirty="0"/>
          </a:p>
        </p:txBody>
      </p:sp>
      <p:sp>
        <p:nvSpPr>
          <p:cNvPr id="24" name="pc-tv-187"/>
          <p:cNvSpPr txBox="1"/>
          <p:nvPr/>
        </p:nvSpPr>
        <p:spPr>
          <a:xfrm>
            <a:off x="9128455" y="3931920"/>
            <a:ext cx="2194560" cy="685800"/>
          </a:xfrm>
          <a:prstGeom prst="rect">
            <a:avLst/>
          </a:prstGeom>
          <a:noFill/>
          <a:ln/>
        </p:spPr>
        <p:txBody>
          <a:bodyPr wrap="square" lIns="0" tIns="0" rIns="0" bIns="0" rtlCol="0" anchor="ctr"/>
          <a:lstStyle/>
          <a:p>
            <a:pPr algn="r" indent="0" marL="0">
              <a:buNone/>
            </a:pPr>
            <a:r>
              <a:rPr lang="en-US" sz="3000" b="1" dirty="0">
                <a:solidFill>
                  <a:schemeClr val="accent5"/>
                </a:solidFill>
              </a:rPr>
              <a:t>−₹69,800</a:t>
            </a:r>
            <a:endParaRPr lang="en-US" sz="3000" dirty="0"/>
          </a:p>
        </p:txBody>
      </p:sp>
      <p:sp>
        <p:nvSpPr>
          <p:cNvPr id="25" name="pc-take-bg-188"/>
          <p:cNvSpPr/>
          <p:nvPr/>
        </p:nvSpPr>
        <p:spPr>
          <a:xfrm>
            <a:off x="548640" y="5212080"/>
            <a:ext cx="11094415" cy="822960"/>
          </a:xfrm>
          <a:prstGeom prst="roundRect">
            <a:avLst>
              <a:gd name="adj" fmla="val 11111"/>
            </a:avLst>
          </a:prstGeom>
          <a:solidFill>
            <a:srgbClr val="FFF4D6"/>
          </a:solidFill>
          <a:ln/>
        </p:spPr>
      </p:sp>
      <p:sp>
        <p:nvSpPr>
          <p:cNvPr id="26" name="pc-take-189"/>
          <p:cNvSpPr txBox="1"/>
          <p:nvPr/>
        </p:nvSpPr>
        <p:spPr>
          <a:xfrm>
            <a:off x="822960" y="5212080"/>
            <a:ext cx="10545775" cy="822960"/>
          </a:xfrm>
          <a:prstGeom prst="rect">
            <a:avLst/>
          </a:prstGeom>
          <a:noFill/>
          <a:ln/>
        </p:spPr>
        <p:txBody>
          <a:bodyPr wrap="square" lIns="0" tIns="0" rIns="0" bIns="0" rtlCol="0" anchor="ctr"/>
          <a:lstStyle/>
          <a:p>
            <a:pPr indent="0" marL="0">
              <a:buNone/>
            </a:pPr>
            <a:r>
              <a:rPr lang="en-US" sz="1500" b="1" dirty="0">
                <a:solidFill>
                  <a:schemeClr val="tx2"/>
                </a:solidFill>
              </a:rPr>
              <a:t>The fix is collection, not cost-cutting: </a:t>
            </a:r>
            <a:pPr indent="0" marL="0">
              <a:buNone/>
            </a:pPr>
            <a:r>
              <a:rPr lang="en-US" sz="1500" dirty="0">
                <a:solidFill>
                  <a:schemeClr val="tx1"/>
                </a:solidFill>
              </a:rPr>
              <a:t>₹6.50 L is billed but unpaid (₹2.00 L already overdue). Collecting it turns the project cash-positive.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Dashboard charts show where money is made and where it is stuck</a:t>
            </a:r>
            <a:endParaRPr lang="en-US" sz="3000" dirty="0"/>
          </a:p>
        </p:txBody>
      </p:sp>
      <p:sp>
        <p:nvSpPr>
          <p:cNvPr id="3" name="frame-190"/>
          <p:cNvSpPr/>
          <p:nvPr/>
        </p:nvSpPr>
        <p:spPr>
          <a:xfrm>
            <a:off x="548640" y="1298448"/>
            <a:ext cx="6729984" cy="4564685"/>
          </a:xfrm>
          <a:prstGeom prst="roundRect">
            <a:avLst>
              <a:gd name="adj" fmla="val 1603"/>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191" descr="Dashboard charts: profitability, cost distribution, receivable and payable meters">    </p:cNvPr>
          <p:cNvPicPr>
            <a:picLocks noChangeAspect="1"/>
          </p:cNvPicPr>
          <p:nvPr/>
        </p:nvPicPr>
        <p:blipFill>
          <a:blip r:embed="rId1"/>
          <a:stretch>
            <a:fillRect/>
          </a:stretch>
        </p:blipFill>
        <p:spPr>
          <a:xfrm>
            <a:off x="621792" y="1371600"/>
            <a:ext cx="6583680" cy="4418381"/>
          </a:xfrm>
          <a:prstGeom prst="rect">
            <a:avLst/>
          </a:prstGeom>
        </p:spPr>
      </p:pic>
      <p:sp>
        <p:nvSpPr>
          <p:cNvPr id="5" name="badge-192"/>
          <p:cNvSpPr/>
          <p:nvPr/>
        </p:nvSpPr>
        <p:spPr>
          <a:xfrm>
            <a:off x="7635240" y="1344168"/>
            <a:ext cx="402336" cy="402336"/>
          </a:xfrm>
          <a:prstGeom prst="ellipse">
            <a:avLst/>
          </a:prstGeom>
          <a:solidFill>
            <a:schemeClr val="accent1"/>
          </a:solidFill>
          <a:ln/>
        </p:spPr>
      </p:sp>
      <p:sp>
        <p:nvSpPr>
          <p:cNvPr id="6" name="badge-n-193"/>
          <p:cNvSpPr txBox="1"/>
          <p:nvPr/>
        </p:nvSpPr>
        <p:spPr>
          <a:xfrm>
            <a:off x="7635240" y="134416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7" name="step-h-194"/>
          <p:cNvSpPr txBox="1"/>
          <p:nvPr/>
        </p:nvSpPr>
        <p:spPr>
          <a:xfrm>
            <a:off x="8183880" y="132588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Revenue vs Cost · Planned vs Actual</a:t>
            </a:r>
            <a:endParaRPr lang="en-US" sz="1700" dirty="0"/>
          </a:p>
        </p:txBody>
      </p:sp>
      <p:sp>
        <p:nvSpPr>
          <p:cNvPr id="8" name="step-b-195"/>
          <p:cNvSpPr txBox="1"/>
          <p:nvPr/>
        </p:nvSpPr>
        <p:spPr>
          <a:xfrm>
            <a:off x="8183880" y="1709928"/>
            <a:ext cx="3459175" cy="502920"/>
          </a:xfrm>
          <a:prstGeom prst="rect">
            <a:avLst/>
          </a:prstGeom>
          <a:noFill/>
          <a:ln/>
        </p:spPr>
        <p:txBody>
          <a:bodyPr wrap="square" lIns="0" tIns="0" rIns="0" bIns="0" rtlCol="0" anchor="t"/>
          <a:lstStyle/>
          <a:p>
            <a:pPr indent="0" marL="0">
              <a:buNone/>
            </a:pPr>
            <a:r>
              <a:rPr lang="en-US" sz="1400" dirty="0">
                <a:solidFill>
                  <a:schemeClr val="tx1"/>
                </a:solidFill>
              </a:rPr>
              <a:t>Bars per project. A wide blue-over-orange gap means room for margin.</a:t>
            </a:r>
            <a:endParaRPr lang="en-US" sz="1400" dirty="0"/>
          </a:p>
        </p:txBody>
      </p:sp>
      <p:sp>
        <p:nvSpPr>
          <p:cNvPr id="9" name="badge-196"/>
          <p:cNvSpPr/>
          <p:nvPr/>
        </p:nvSpPr>
        <p:spPr>
          <a:xfrm>
            <a:off x="7635240" y="2286000"/>
            <a:ext cx="402336" cy="402336"/>
          </a:xfrm>
          <a:prstGeom prst="ellipse">
            <a:avLst/>
          </a:prstGeom>
          <a:solidFill>
            <a:schemeClr val="accent1"/>
          </a:solidFill>
          <a:ln/>
        </p:spPr>
      </p:sp>
      <p:sp>
        <p:nvSpPr>
          <p:cNvPr id="10" name="badge-n-197"/>
          <p:cNvSpPr txBox="1"/>
          <p:nvPr/>
        </p:nvSpPr>
        <p:spPr>
          <a:xfrm>
            <a:off x="7635240" y="228600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1" name="step-h-198"/>
          <p:cNvSpPr txBox="1"/>
          <p:nvPr/>
        </p:nvSpPr>
        <p:spPr>
          <a:xfrm>
            <a:off x="8183880" y="2267712"/>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Project Profitability</a:t>
            </a:r>
            <a:endParaRPr lang="en-US" sz="1700" dirty="0"/>
          </a:p>
        </p:txBody>
      </p:sp>
      <p:sp>
        <p:nvSpPr>
          <p:cNvPr id="12" name="step-b-199"/>
          <p:cNvSpPr txBox="1"/>
          <p:nvPr/>
        </p:nvSpPr>
        <p:spPr>
          <a:xfrm>
            <a:off x="8183880" y="2651760"/>
            <a:ext cx="3459175" cy="502920"/>
          </a:xfrm>
          <a:prstGeom prst="rect">
            <a:avLst/>
          </a:prstGeom>
          <a:noFill/>
          <a:ln/>
        </p:spPr>
        <p:txBody>
          <a:bodyPr wrap="square" lIns="0" tIns="0" rIns="0" bIns="0" rtlCol="0" anchor="t"/>
          <a:lstStyle/>
          <a:p>
            <a:pPr indent="0" marL="0">
              <a:buNone/>
            </a:pPr>
            <a:r>
              <a:rPr lang="en-US" sz="1400" dirty="0">
                <a:solidFill>
                  <a:schemeClr val="tx1"/>
                </a:solidFill>
              </a:rPr>
              <a:t>Actual profit on completed phases; red would be a loss.</a:t>
            </a:r>
            <a:endParaRPr lang="en-US" sz="1400" dirty="0"/>
          </a:p>
        </p:txBody>
      </p:sp>
      <p:sp>
        <p:nvSpPr>
          <p:cNvPr id="13" name="badge-200"/>
          <p:cNvSpPr/>
          <p:nvPr/>
        </p:nvSpPr>
        <p:spPr>
          <a:xfrm>
            <a:off x="7635240" y="3227832"/>
            <a:ext cx="402336" cy="402336"/>
          </a:xfrm>
          <a:prstGeom prst="ellipse">
            <a:avLst/>
          </a:prstGeom>
          <a:solidFill>
            <a:schemeClr val="accent1"/>
          </a:solidFill>
          <a:ln/>
        </p:spPr>
      </p:sp>
      <p:sp>
        <p:nvSpPr>
          <p:cNvPr id="14" name="badge-n-201"/>
          <p:cNvSpPr txBox="1"/>
          <p:nvPr/>
        </p:nvSpPr>
        <p:spPr>
          <a:xfrm>
            <a:off x="7635240" y="3227832"/>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5" name="step-h-202"/>
          <p:cNvSpPr txBox="1"/>
          <p:nvPr/>
        </p:nvSpPr>
        <p:spPr>
          <a:xfrm>
            <a:off x="8183880" y="3209544"/>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Cost Distribution</a:t>
            </a:r>
            <a:endParaRPr lang="en-US" sz="1700" dirty="0"/>
          </a:p>
        </p:txBody>
      </p:sp>
      <p:sp>
        <p:nvSpPr>
          <p:cNvPr id="16" name="step-b-203"/>
          <p:cNvSpPr txBox="1"/>
          <p:nvPr/>
        </p:nvSpPr>
        <p:spPr>
          <a:xfrm>
            <a:off x="8183880" y="3593592"/>
            <a:ext cx="3459175" cy="502920"/>
          </a:xfrm>
          <a:prstGeom prst="rect">
            <a:avLst/>
          </a:prstGeom>
          <a:noFill/>
          <a:ln/>
        </p:spPr>
        <p:txBody>
          <a:bodyPr wrap="square" lIns="0" tIns="0" rIns="0" bIns="0" rtlCol="0" anchor="t"/>
          <a:lstStyle/>
          <a:p>
            <a:pPr indent="0" marL="0">
              <a:buNone/>
            </a:pPr>
            <a:r>
              <a:rPr lang="en-US" sz="1400" dirty="0">
                <a:solidFill>
                  <a:schemeClr val="tx1"/>
                </a:solidFill>
              </a:rPr>
              <a:t>Each project's cost split into material, labour, outsource, other.</a:t>
            </a:r>
            <a:endParaRPr lang="en-US" sz="1400" dirty="0"/>
          </a:p>
        </p:txBody>
      </p:sp>
      <p:sp>
        <p:nvSpPr>
          <p:cNvPr id="17" name="badge-204"/>
          <p:cNvSpPr/>
          <p:nvPr/>
        </p:nvSpPr>
        <p:spPr>
          <a:xfrm>
            <a:off x="7635240" y="4169664"/>
            <a:ext cx="402336" cy="402336"/>
          </a:xfrm>
          <a:prstGeom prst="ellipse">
            <a:avLst/>
          </a:prstGeom>
          <a:solidFill>
            <a:schemeClr val="accent1"/>
          </a:solidFill>
          <a:ln/>
        </p:spPr>
      </p:sp>
      <p:sp>
        <p:nvSpPr>
          <p:cNvPr id="18" name="badge-n-205"/>
          <p:cNvSpPr txBox="1"/>
          <p:nvPr/>
        </p:nvSpPr>
        <p:spPr>
          <a:xfrm>
            <a:off x="7635240" y="4169664"/>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19" name="step-h-206"/>
          <p:cNvSpPr txBox="1"/>
          <p:nvPr/>
        </p:nvSpPr>
        <p:spPr>
          <a:xfrm>
            <a:off x="8183880" y="4151376"/>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Receivable &amp; Payable meters</a:t>
            </a:r>
            <a:endParaRPr lang="en-US" sz="1700" dirty="0"/>
          </a:p>
        </p:txBody>
      </p:sp>
      <p:sp>
        <p:nvSpPr>
          <p:cNvPr id="20" name="step-b-207"/>
          <p:cNvSpPr txBox="1"/>
          <p:nvPr/>
        </p:nvSpPr>
        <p:spPr>
          <a:xfrm>
            <a:off x="8183880" y="4535424"/>
            <a:ext cx="3459175" cy="502920"/>
          </a:xfrm>
          <a:prstGeom prst="rect">
            <a:avLst/>
          </a:prstGeom>
          <a:noFill/>
          <a:ln/>
        </p:spPr>
        <p:txBody>
          <a:bodyPr wrap="square" lIns="0" tIns="0" rIns="0" bIns="0" rtlCol="0" anchor="t"/>
          <a:lstStyle/>
          <a:p>
            <a:pPr indent="0" marL="0">
              <a:buNone/>
            </a:pPr>
            <a:r>
              <a:rPr lang="en-US" sz="1400" dirty="0">
                <a:solidFill>
                  <a:schemeClr val="tx1"/>
                </a:solidFill>
              </a:rPr>
              <a:t>Received or paid vs pending vs overdue, as one 100% bar.</a:t>
            </a:r>
            <a:endParaRPr lang="en-US" sz="1400" dirty="0"/>
          </a:p>
        </p:txBody>
      </p:sp>
      <p:sp>
        <p:nvSpPr>
          <p:cNvPr id="21" name="badge-208"/>
          <p:cNvSpPr/>
          <p:nvPr/>
        </p:nvSpPr>
        <p:spPr>
          <a:xfrm>
            <a:off x="7635240" y="5111496"/>
            <a:ext cx="402336" cy="402336"/>
          </a:xfrm>
          <a:prstGeom prst="ellipse">
            <a:avLst/>
          </a:prstGeom>
          <a:solidFill>
            <a:schemeClr val="accent1"/>
          </a:solidFill>
          <a:ln/>
        </p:spPr>
      </p:sp>
      <p:sp>
        <p:nvSpPr>
          <p:cNvPr id="22" name="badge-n-209"/>
          <p:cNvSpPr txBox="1"/>
          <p:nvPr/>
        </p:nvSpPr>
        <p:spPr>
          <a:xfrm>
            <a:off x="7635240" y="5111496"/>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5</a:t>
            </a:r>
            <a:endParaRPr lang="en-US" sz="1500" dirty="0"/>
          </a:p>
        </p:txBody>
      </p:sp>
      <p:sp>
        <p:nvSpPr>
          <p:cNvPr id="23" name="step-h-210"/>
          <p:cNvSpPr txBox="1"/>
          <p:nvPr/>
        </p:nvSpPr>
        <p:spPr>
          <a:xfrm>
            <a:off x="8183880" y="5093208"/>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Project Status</a:t>
            </a:r>
            <a:endParaRPr lang="en-US" sz="1700" dirty="0"/>
          </a:p>
        </p:txBody>
      </p:sp>
      <p:sp>
        <p:nvSpPr>
          <p:cNvPr id="24" name="step-b-211"/>
          <p:cNvSpPr txBox="1"/>
          <p:nvPr/>
        </p:nvSpPr>
        <p:spPr>
          <a:xfrm>
            <a:off x="8183880" y="5477256"/>
            <a:ext cx="3459175" cy="502920"/>
          </a:xfrm>
          <a:prstGeom prst="rect">
            <a:avLst/>
          </a:prstGeom>
          <a:noFill/>
          <a:ln/>
        </p:spPr>
        <p:txBody>
          <a:bodyPr wrap="square" lIns="0" tIns="0" rIns="0" bIns="0" rtlCol="0" anchor="t"/>
          <a:lstStyle/>
          <a:p>
            <a:pPr indent="0" marL="0">
              <a:buNone/>
            </a:pPr>
            <a:r>
              <a:rPr lang="en-US" sz="1400" dirty="0">
                <a:solidFill>
                  <a:schemeClr val="tx1"/>
                </a:solidFill>
              </a:rPr>
              <a:t>Count of projects in each stage of the lifecycle.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SRK Warehouse closed at 33.6%; Green Valley has the most to bill</a:t>
            </a:r>
            <a:endParaRPr lang="en-US" sz="3000" dirty="0"/>
          </a:p>
        </p:txBody>
      </p:sp>
      <p:graphicFrame>
        <p:nvGraphicFramePr>
          <p:cNvPr id="3" name="chart-projects-212" descr=""/>
          <p:cNvGraphicFramePr/>
          <p:nvPr/>
        </p:nvGraphicFramePr>
        <p:xfrm>
          <a:off x="54864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badge-213"/>
          <p:cNvSpPr/>
          <p:nvPr/>
        </p:nvSpPr>
        <p:spPr>
          <a:xfrm>
            <a:off x="7863840" y="1389888"/>
            <a:ext cx="402336" cy="402336"/>
          </a:xfrm>
          <a:prstGeom prst="ellipse">
            <a:avLst/>
          </a:prstGeom>
          <a:solidFill>
            <a:schemeClr val="accent1"/>
          </a:solidFill>
          <a:ln/>
        </p:spPr>
      </p:sp>
      <p:sp>
        <p:nvSpPr>
          <p:cNvPr id="5" name="badge-n-214"/>
          <p:cNvSpPr txBox="1"/>
          <p:nvPr/>
        </p:nvSpPr>
        <p:spPr>
          <a:xfrm>
            <a:off x="7863840" y="138988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a:t>
            </a:r>
            <a:endParaRPr lang="en-US" sz="1500" dirty="0"/>
          </a:p>
        </p:txBody>
      </p:sp>
      <p:sp>
        <p:nvSpPr>
          <p:cNvPr id="6" name="step-h-215"/>
          <p:cNvSpPr txBox="1"/>
          <p:nvPr/>
        </p:nvSpPr>
        <p:spPr>
          <a:xfrm>
            <a:off x="8412480" y="1371600"/>
            <a:ext cx="3230575" cy="384048"/>
          </a:xfrm>
          <a:prstGeom prst="rect">
            <a:avLst/>
          </a:prstGeom>
          <a:noFill/>
          <a:ln/>
        </p:spPr>
        <p:txBody>
          <a:bodyPr wrap="square" lIns="0" tIns="0" rIns="0" bIns="0" rtlCol="0" anchor="ctr"/>
          <a:lstStyle/>
          <a:p>
            <a:pPr indent="0" marL="0">
              <a:buNone/>
            </a:pPr>
            <a:r>
              <a:rPr lang="en-US" sz="1700" b="1" dirty="0">
                <a:solidFill>
                  <a:schemeClr val="tx2"/>
                </a:solidFill>
              </a:rPr>
              <a:t>SRK Warehouse · 100% done</a:t>
            </a:r>
            <a:endParaRPr lang="en-US" sz="1700" dirty="0"/>
          </a:p>
        </p:txBody>
      </p:sp>
      <p:sp>
        <p:nvSpPr>
          <p:cNvPr id="7" name="step-b-216"/>
          <p:cNvSpPr txBox="1"/>
          <p:nvPr/>
        </p:nvSpPr>
        <p:spPr>
          <a:xfrm>
            <a:off x="8412480" y="1755648"/>
            <a:ext cx="3230575" cy="822960"/>
          </a:xfrm>
          <a:prstGeom prst="rect">
            <a:avLst/>
          </a:prstGeom>
          <a:noFill/>
          <a:ln/>
        </p:spPr>
        <p:txBody>
          <a:bodyPr wrap="square" lIns="0" tIns="0" rIns="0" bIns="0" rtlCol="0" anchor="t"/>
          <a:lstStyle/>
          <a:p>
            <a:pPr indent="0" marL="0">
              <a:buNone/>
            </a:pPr>
            <a:r>
              <a:rPr lang="en-US" sz="1400" dirty="0">
                <a:solidFill>
                  <a:schemeClr val="tx1"/>
                </a:solidFill>
              </a:rPr>
              <a:t>Final profit ₹12.76 L at 33.6% margin, above the 30.8% planned. Ready to close.</a:t>
            </a:r>
            <a:endParaRPr lang="en-US" sz="1400" dirty="0"/>
          </a:p>
        </p:txBody>
      </p:sp>
      <p:sp>
        <p:nvSpPr>
          <p:cNvPr id="8" name="badge-217"/>
          <p:cNvSpPr/>
          <p:nvPr/>
        </p:nvSpPr>
        <p:spPr>
          <a:xfrm>
            <a:off x="7863840" y="2898648"/>
            <a:ext cx="402336" cy="402336"/>
          </a:xfrm>
          <a:prstGeom prst="ellipse">
            <a:avLst/>
          </a:prstGeom>
          <a:solidFill>
            <a:schemeClr val="accent1"/>
          </a:solidFill>
          <a:ln/>
        </p:spPr>
      </p:sp>
      <p:sp>
        <p:nvSpPr>
          <p:cNvPr id="9" name="badge-n-218"/>
          <p:cNvSpPr txBox="1"/>
          <p:nvPr/>
        </p:nvSpPr>
        <p:spPr>
          <a:xfrm>
            <a:off x="7863840" y="289864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a:t>
            </a:r>
            <a:endParaRPr lang="en-US" sz="1500" dirty="0"/>
          </a:p>
        </p:txBody>
      </p:sp>
      <p:sp>
        <p:nvSpPr>
          <p:cNvPr id="10" name="step-h-219"/>
          <p:cNvSpPr txBox="1"/>
          <p:nvPr/>
        </p:nvSpPr>
        <p:spPr>
          <a:xfrm>
            <a:off x="8412480" y="2880360"/>
            <a:ext cx="3230575" cy="384048"/>
          </a:xfrm>
          <a:prstGeom prst="rect">
            <a:avLst/>
          </a:prstGeom>
          <a:noFill/>
          <a:ln/>
        </p:spPr>
        <p:txBody>
          <a:bodyPr wrap="square" lIns="0" tIns="0" rIns="0" bIns="0" rtlCol="0" anchor="ctr"/>
          <a:lstStyle/>
          <a:p>
            <a:pPr indent="0" marL="0">
              <a:buNone/>
            </a:pPr>
            <a:r>
              <a:rPr lang="en-US" sz="1700" b="1" dirty="0">
                <a:solidFill>
                  <a:schemeClr val="tx2"/>
                </a:solidFill>
              </a:rPr>
              <a:t>Green Valley · 47% done</a:t>
            </a:r>
            <a:endParaRPr lang="en-US" sz="1700" dirty="0"/>
          </a:p>
        </p:txBody>
      </p:sp>
      <p:sp>
        <p:nvSpPr>
          <p:cNvPr id="11" name="step-b-220"/>
          <p:cNvSpPr txBox="1"/>
          <p:nvPr/>
        </p:nvSpPr>
        <p:spPr>
          <a:xfrm>
            <a:off x="8412480" y="3264408"/>
            <a:ext cx="3230575" cy="822960"/>
          </a:xfrm>
          <a:prstGeom prst="rect">
            <a:avLst/>
          </a:prstGeom>
          <a:noFill/>
          <a:ln/>
        </p:spPr>
        <p:txBody>
          <a:bodyPr wrap="square" lIns="0" tIns="0" rIns="0" bIns="0" rtlCol="0" anchor="t"/>
          <a:lstStyle/>
          <a:p>
            <a:pPr indent="0" marL="0">
              <a:buNone/>
            </a:pPr>
            <a:r>
              <a:rPr lang="en-US" sz="1400" dirty="0">
                <a:solidFill>
                  <a:schemeClr val="tx1"/>
                </a:solidFill>
              </a:rPr>
              <a:t>₹10.48 L profit on two completed phases; Foundation &amp; Basement (₹18 L) is ready to bill.</a:t>
            </a:r>
            <a:endParaRPr lang="en-US" sz="1400" dirty="0"/>
          </a:p>
        </p:txBody>
      </p:sp>
      <p:sp>
        <p:nvSpPr>
          <p:cNvPr id="12" name="badge-221"/>
          <p:cNvSpPr/>
          <p:nvPr/>
        </p:nvSpPr>
        <p:spPr>
          <a:xfrm>
            <a:off x="7863840" y="4407408"/>
            <a:ext cx="402336" cy="402336"/>
          </a:xfrm>
          <a:prstGeom prst="ellipse">
            <a:avLst/>
          </a:prstGeom>
          <a:solidFill>
            <a:schemeClr val="accent1"/>
          </a:solidFill>
          <a:ln/>
        </p:spPr>
      </p:sp>
      <p:sp>
        <p:nvSpPr>
          <p:cNvPr id="13" name="badge-n-222"/>
          <p:cNvSpPr txBox="1"/>
          <p:nvPr/>
        </p:nvSpPr>
        <p:spPr>
          <a:xfrm>
            <a:off x="7863840" y="440740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a:t>
            </a:r>
            <a:endParaRPr lang="en-US" sz="1500" dirty="0"/>
          </a:p>
        </p:txBody>
      </p:sp>
      <p:sp>
        <p:nvSpPr>
          <p:cNvPr id="14" name="step-h-223"/>
          <p:cNvSpPr txBox="1"/>
          <p:nvPr/>
        </p:nvSpPr>
        <p:spPr>
          <a:xfrm>
            <a:off x="8412480" y="4389120"/>
            <a:ext cx="3230575" cy="384048"/>
          </a:xfrm>
          <a:prstGeom prst="rect">
            <a:avLst/>
          </a:prstGeom>
          <a:noFill/>
          <a:ln/>
        </p:spPr>
        <p:txBody>
          <a:bodyPr wrap="square" lIns="0" tIns="0" rIns="0" bIns="0" rtlCol="0" anchor="ctr"/>
          <a:lstStyle/>
          <a:p>
            <a:pPr indent="0" marL="0">
              <a:buNone/>
            </a:pPr>
            <a:r>
              <a:rPr lang="en-US" sz="1700" b="1" dirty="0">
                <a:solidFill>
                  <a:schemeClr val="tx2"/>
                </a:solidFill>
              </a:rPr>
              <a:t>ABC Villa · 36% done</a:t>
            </a:r>
            <a:endParaRPr lang="en-US" sz="1700" dirty="0"/>
          </a:p>
        </p:txBody>
      </p:sp>
      <p:sp>
        <p:nvSpPr>
          <p:cNvPr id="15" name="step-b-224"/>
          <p:cNvSpPr txBox="1"/>
          <p:nvPr/>
        </p:nvSpPr>
        <p:spPr>
          <a:xfrm>
            <a:off x="8412480" y="4773168"/>
            <a:ext cx="3230575" cy="822960"/>
          </a:xfrm>
          <a:prstGeom prst="rect">
            <a:avLst/>
          </a:prstGeom>
          <a:noFill/>
          <a:ln/>
        </p:spPr>
        <p:txBody>
          <a:bodyPr wrap="square" lIns="0" tIns="0" rIns="0" bIns="0" rtlCol="0" anchor="t"/>
          <a:lstStyle/>
          <a:p>
            <a:pPr indent="0" marL="0">
              <a:buNone/>
            </a:pPr>
            <a:r>
              <a:rPr lang="en-US" sz="1400" dirty="0">
                <a:solidFill>
                  <a:schemeClr val="tx1"/>
                </a:solidFill>
              </a:rPr>
              <a:t>Only Foundation is complete (₹2.90 L). Structure material is 5% over budget.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Arrows and colours flag budget overruns before they grow</a:t>
            </a:r>
            <a:endParaRPr lang="en-US" sz="3000" dirty="0"/>
          </a:p>
        </p:txBody>
      </p:sp>
      <p:sp>
        <p:nvSpPr>
          <p:cNvPr id="3" name="frame-225"/>
          <p:cNvSpPr/>
          <p:nvPr/>
        </p:nvSpPr>
        <p:spPr>
          <a:xfrm>
            <a:off x="548640" y="1298448"/>
            <a:ext cx="6729984" cy="4564685"/>
          </a:xfrm>
          <a:prstGeom prst="roundRect">
            <a:avLst>
              <a:gd name="adj" fmla="val 1603"/>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226" descr="Phase dashboard for Structure showing cost cards and planned vs actual table">    </p:cNvPr>
          <p:cNvPicPr>
            <a:picLocks noChangeAspect="1"/>
          </p:cNvPicPr>
          <p:nvPr/>
        </p:nvPicPr>
        <p:blipFill>
          <a:blip r:embed="rId1"/>
          <a:stretch>
            <a:fillRect/>
          </a:stretch>
        </p:blipFill>
        <p:spPr>
          <a:xfrm>
            <a:off x="621792" y="1371600"/>
            <a:ext cx="6583680" cy="4418381"/>
          </a:xfrm>
          <a:prstGeom prst="rect">
            <a:avLst/>
          </a:prstGeom>
        </p:spPr>
      </p:pic>
      <p:sp>
        <p:nvSpPr>
          <p:cNvPr id="5" name="badge-227"/>
          <p:cNvSpPr/>
          <p:nvPr/>
        </p:nvSpPr>
        <p:spPr>
          <a:xfrm>
            <a:off x="7635240" y="1344168"/>
            <a:ext cx="402336" cy="402336"/>
          </a:xfrm>
          <a:prstGeom prst="ellipse">
            <a:avLst/>
          </a:prstGeom>
          <a:solidFill>
            <a:schemeClr val="accent1"/>
          </a:solidFill>
          <a:ln/>
        </p:spPr>
      </p:sp>
      <p:sp>
        <p:nvSpPr>
          <p:cNvPr id="6" name="badge-n-228"/>
          <p:cNvSpPr txBox="1"/>
          <p:nvPr/>
        </p:nvSpPr>
        <p:spPr>
          <a:xfrm>
            <a:off x="7635240" y="134416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a:t>
            </a:r>
            <a:endParaRPr lang="en-US" sz="1500" dirty="0"/>
          </a:p>
        </p:txBody>
      </p:sp>
      <p:sp>
        <p:nvSpPr>
          <p:cNvPr id="7" name="step-h-229"/>
          <p:cNvSpPr txBox="1"/>
          <p:nvPr/>
        </p:nvSpPr>
        <p:spPr>
          <a:xfrm>
            <a:off x="8183880" y="132588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Red ▲ +₹ = over budget</a:t>
            </a:r>
            <a:endParaRPr lang="en-US" sz="1700" dirty="0"/>
          </a:p>
        </p:txBody>
      </p:sp>
      <p:sp>
        <p:nvSpPr>
          <p:cNvPr id="8" name="step-b-230"/>
          <p:cNvSpPr txBox="1"/>
          <p:nvPr/>
        </p:nvSpPr>
        <p:spPr>
          <a:xfrm>
            <a:off x="8183880" y="1709928"/>
            <a:ext cx="3459175" cy="640080"/>
          </a:xfrm>
          <a:prstGeom prst="rect">
            <a:avLst/>
          </a:prstGeom>
          <a:noFill/>
          <a:ln/>
        </p:spPr>
        <p:txBody>
          <a:bodyPr wrap="square" lIns="0" tIns="0" rIns="0" bIns="0" rtlCol="0" anchor="t"/>
          <a:lstStyle/>
          <a:p>
            <a:pPr indent="0" marL="0">
              <a:buNone/>
            </a:pPr>
            <a:r>
              <a:rPr lang="en-US" sz="1400" dirty="0">
                <a:solidFill>
                  <a:schemeClr val="tx1"/>
                </a:solidFill>
              </a:rPr>
              <a:t>Structure material: ₹5,77,600 actual vs ₹5,50,000 planned (+₹27,600).</a:t>
            </a:r>
            <a:endParaRPr lang="en-US" sz="1400" dirty="0"/>
          </a:p>
        </p:txBody>
      </p:sp>
      <p:sp>
        <p:nvSpPr>
          <p:cNvPr id="9" name="badge-231"/>
          <p:cNvSpPr/>
          <p:nvPr/>
        </p:nvSpPr>
        <p:spPr>
          <a:xfrm>
            <a:off x="7635240" y="2441448"/>
            <a:ext cx="402336" cy="402336"/>
          </a:xfrm>
          <a:prstGeom prst="ellipse">
            <a:avLst/>
          </a:prstGeom>
          <a:solidFill>
            <a:schemeClr val="accent1"/>
          </a:solidFill>
          <a:ln/>
        </p:spPr>
      </p:sp>
      <p:sp>
        <p:nvSpPr>
          <p:cNvPr id="10" name="badge-n-232"/>
          <p:cNvSpPr txBox="1"/>
          <p:nvPr/>
        </p:nvSpPr>
        <p:spPr>
          <a:xfrm>
            <a:off x="7635240" y="244144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a:t>
            </a:r>
            <a:endParaRPr lang="en-US" sz="1500" dirty="0"/>
          </a:p>
        </p:txBody>
      </p:sp>
      <p:sp>
        <p:nvSpPr>
          <p:cNvPr id="11" name="step-h-233"/>
          <p:cNvSpPr txBox="1"/>
          <p:nvPr/>
        </p:nvSpPr>
        <p:spPr>
          <a:xfrm>
            <a:off x="8183880" y="242316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Green ▼ −₹ = under budget</a:t>
            </a:r>
            <a:endParaRPr lang="en-US" sz="1700" dirty="0"/>
          </a:p>
        </p:txBody>
      </p:sp>
      <p:sp>
        <p:nvSpPr>
          <p:cNvPr id="12" name="step-b-234"/>
          <p:cNvSpPr txBox="1"/>
          <p:nvPr/>
        </p:nvSpPr>
        <p:spPr>
          <a:xfrm>
            <a:off x="8183880" y="2807208"/>
            <a:ext cx="3459175" cy="640080"/>
          </a:xfrm>
          <a:prstGeom prst="rect">
            <a:avLst/>
          </a:prstGeom>
          <a:noFill/>
          <a:ln/>
        </p:spPr>
        <p:txBody>
          <a:bodyPr wrap="square" lIns="0" tIns="0" rIns="0" bIns="0" rtlCol="0" anchor="t"/>
          <a:lstStyle/>
          <a:p>
            <a:pPr indent="0" marL="0">
              <a:buNone/>
            </a:pPr>
            <a:r>
              <a:rPr lang="en-US" sz="1400" dirty="0">
                <a:solidFill>
                  <a:schemeClr val="tx1"/>
                </a:solidFill>
              </a:rPr>
              <a:t>Variance = actual − planned, so a negative number is good.</a:t>
            </a:r>
            <a:endParaRPr lang="en-US" sz="1400" dirty="0"/>
          </a:p>
        </p:txBody>
      </p:sp>
      <p:sp>
        <p:nvSpPr>
          <p:cNvPr id="13" name="badge-235"/>
          <p:cNvSpPr/>
          <p:nvPr/>
        </p:nvSpPr>
        <p:spPr>
          <a:xfrm>
            <a:off x="7635240" y="3538728"/>
            <a:ext cx="402336" cy="402336"/>
          </a:xfrm>
          <a:prstGeom prst="ellipse">
            <a:avLst/>
          </a:prstGeom>
          <a:solidFill>
            <a:schemeClr val="accent1"/>
          </a:solidFill>
          <a:ln/>
        </p:spPr>
      </p:sp>
      <p:sp>
        <p:nvSpPr>
          <p:cNvPr id="14" name="badge-n-236"/>
          <p:cNvSpPr txBox="1"/>
          <p:nvPr/>
        </p:nvSpPr>
        <p:spPr>
          <a:xfrm>
            <a:off x="7635240" y="353872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a:t>
            </a:r>
            <a:endParaRPr lang="en-US" sz="1500" dirty="0"/>
          </a:p>
        </p:txBody>
      </p:sp>
      <p:sp>
        <p:nvSpPr>
          <p:cNvPr id="15" name="step-h-237"/>
          <p:cNvSpPr txBox="1"/>
          <p:nvPr/>
        </p:nvSpPr>
        <p:spPr>
          <a:xfrm>
            <a:off x="8183880" y="352044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Budget used vs completion</a:t>
            </a:r>
            <a:endParaRPr lang="en-US" sz="1700" dirty="0"/>
          </a:p>
        </p:txBody>
      </p:sp>
      <p:sp>
        <p:nvSpPr>
          <p:cNvPr id="16" name="step-b-238"/>
          <p:cNvSpPr txBox="1"/>
          <p:nvPr/>
        </p:nvSpPr>
        <p:spPr>
          <a:xfrm>
            <a:off x="8183880" y="3904488"/>
            <a:ext cx="3459175" cy="640080"/>
          </a:xfrm>
          <a:prstGeom prst="rect">
            <a:avLst/>
          </a:prstGeom>
          <a:noFill/>
          <a:ln/>
        </p:spPr>
        <p:txBody>
          <a:bodyPr wrap="square" lIns="0" tIns="0" rIns="0" bIns="0" rtlCol="0" anchor="t"/>
          <a:lstStyle/>
          <a:p>
            <a:pPr indent="0" marL="0">
              <a:buNone/>
            </a:pPr>
            <a:r>
              <a:rPr lang="en-US" sz="1400" dirty="0">
                <a:solidFill>
                  <a:schemeClr val="tx1"/>
                </a:solidFill>
              </a:rPr>
              <a:t>83% of budget spent at 70% complete: compare the two to spot overruns early.</a:t>
            </a:r>
            <a:endParaRPr lang="en-US" sz="1400" dirty="0"/>
          </a:p>
        </p:txBody>
      </p:sp>
      <p:sp>
        <p:nvSpPr>
          <p:cNvPr id="17" name="badge-239"/>
          <p:cNvSpPr/>
          <p:nvPr/>
        </p:nvSpPr>
        <p:spPr>
          <a:xfrm>
            <a:off x="7635240" y="4636008"/>
            <a:ext cx="402336" cy="402336"/>
          </a:xfrm>
          <a:prstGeom prst="ellipse">
            <a:avLst/>
          </a:prstGeom>
          <a:solidFill>
            <a:schemeClr val="accent1"/>
          </a:solidFill>
          <a:ln/>
        </p:spPr>
      </p:sp>
      <p:sp>
        <p:nvSpPr>
          <p:cNvPr id="18" name="badge-n-240"/>
          <p:cNvSpPr txBox="1"/>
          <p:nvPr/>
        </p:nvSpPr>
        <p:spPr>
          <a:xfrm>
            <a:off x="7635240" y="463600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a:t>
            </a:r>
            <a:endParaRPr lang="en-US" sz="1500" dirty="0"/>
          </a:p>
        </p:txBody>
      </p:sp>
      <p:sp>
        <p:nvSpPr>
          <p:cNvPr id="19" name="step-h-241"/>
          <p:cNvSpPr txBox="1"/>
          <p:nvPr/>
        </p:nvSpPr>
        <p:spPr>
          <a:xfrm>
            <a:off x="8183880" y="461772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Status badges</a:t>
            </a:r>
            <a:endParaRPr lang="en-US" sz="1700" dirty="0"/>
          </a:p>
        </p:txBody>
      </p:sp>
      <p:sp>
        <p:nvSpPr>
          <p:cNvPr id="20" name="step-b-242"/>
          <p:cNvSpPr txBox="1"/>
          <p:nvPr/>
        </p:nvSpPr>
        <p:spPr>
          <a:xfrm>
            <a:off x="8183880" y="5001768"/>
            <a:ext cx="3459175" cy="822960"/>
          </a:xfrm>
          <a:prstGeom prst="rect">
            <a:avLst/>
          </a:prstGeom>
          <a:noFill/>
          <a:ln/>
        </p:spPr>
        <p:txBody>
          <a:bodyPr wrap="square" lIns="0" tIns="0" rIns="0" bIns="0" rtlCol="0" anchor="t"/>
          <a:lstStyle/>
          <a:p>
            <a:pPr indent="0" marL="0">
              <a:buNone/>
            </a:pPr>
            <a:r>
              <a:rPr lang="en-US" sz="1400" dirty="0">
                <a:solidFill>
                  <a:schemeClr val="tx1"/>
                </a:solidFill>
              </a:rPr>
              <a:t>Green paid/active · blue in progress/billed · amber partly paid or pending · red overdue.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n-243"/>
          <p:cNvSpPr txBox="1"/>
          <p:nvPr/>
        </p:nvSpPr>
        <p:spPr>
          <a:xfrm>
            <a:off x="548640" y="1463040"/>
            <a:ext cx="2743200" cy="1097280"/>
          </a:xfrm>
          <a:prstGeom prst="rect">
            <a:avLst/>
          </a:prstGeom>
          <a:noFill/>
          <a:ln/>
        </p:spPr>
        <p:txBody>
          <a:bodyPr wrap="square" lIns="0" tIns="0" rIns="0" bIns="0" rtlCol="0" anchor="ctr"/>
          <a:lstStyle/>
          <a:p>
            <a:pPr indent="0" marL="0">
              <a:buNone/>
            </a:pPr>
            <a:r>
              <a:rPr lang="en-US" sz="7200" b="1" dirty="0">
                <a:solidFill>
                  <a:schemeClr val="accent1"/>
                </a:solidFill>
              </a:rPr>
              <a:t>02</a:t>
            </a:r>
            <a:endParaRPr lang="en-US" sz="7200" dirty="0"/>
          </a:p>
        </p:txBody>
      </p:sp>
      <p:sp>
        <p:nvSpPr>
          <p:cNvPr id="3" name="Text 0"/>
          <p:cNvSpPr/>
          <p:nvPr>
            <p:ph idx="100" type="title" hasCustomPrompt="1"/>
          </p:nvPr>
        </p:nvSpPr>
        <p:spPr>
          <a:xfrm>
            <a:off x="548640" y="2743200"/>
            <a:ext cx="10515600" cy="1097280"/>
          </a:xfrm>
          <a:prstGeom prst="rect">
            <a:avLst/>
          </a:prstGeom>
          <a:noFill/>
          <a:ln/>
        </p:spPr>
        <p:txBody>
          <a:bodyPr wrap="square" lIns="0" tIns="0" rIns="0" bIns="0" rtlCol="0" anchor="t"/>
          <a:lstStyle/>
          <a:p>
            <a:pPr algn="l" indent="0" marL="0">
              <a:buNone/>
            </a:pPr>
            <a:r>
              <a:rPr lang="en-US" sz="4000" b="1" dirty="0">
                <a:solidFill>
                  <a:schemeClr val="bg1"/>
                </a:solidFill>
              </a:rPr>
              <a:t>Workflow walkthrough</a:t>
            </a:r>
            <a:endParaRPr lang="en-US" sz="4000" dirty="0"/>
          </a:p>
        </p:txBody>
      </p:sp>
      <p:sp>
        <p:nvSpPr>
          <p:cNvPr id="4" name="Text 0"/>
          <p:cNvSpPr/>
          <p:nvPr>
            <p:ph idx="101" type="body" hasCustomPrompt="1"/>
          </p:nvPr>
        </p:nvSpPr>
        <p:spPr>
          <a:xfrm>
            <a:off x="548640" y="3886200"/>
            <a:ext cx="10515600" cy="822960"/>
          </a:xfrm>
          <a:prstGeom prst="rect">
            <a:avLst/>
          </a:prstGeom>
          <a:noFill/>
          <a:ln/>
        </p:spPr>
        <p:txBody>
          <a:bodyPr wrap="square" lIns="0" tIns="0" rIns="0" bIns="0" rtlCol="0" anchor="t"/>
          <a:lstStyle/>
          <a:p>
            <a:pPr algn="l" indent="0" marL="0">
              <a:buNone/>
            </a:pPr>
            <a:r>
              <a:rPr lang="en-US" sz="1800" dirty="0">
                <a:solidFill>
                  <a:schemeClr val="bg2"/>
                </a:solidFill>
              </a:rPr>
              <a:t>Quote → Contract → Phase → Cost → Billing → Payment → Profit → Closure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Step 1 · An approved quotation becomes a project in one click</a:t>
            </a:r>
            <a:endParaRPr lang="en-US" sz="3000" dirty="0"/>
          </a:p>
        </p:txBody>
      </p:sp>
      <p:sp>
        <p:nvSpPr>
          <p:cNvPr id="3" name="frame-244"/>
          <p:cNvSpPr/>
          <p:nvPr/>
        </p:nvSpPr>
        <p:spPr>
          <a:xfrm>
            <a:off x="548640" y="1298448"/>
            <a:ext cx="7095744" cy="3312160"/>
          </a:xfrm>
          <a:prstGeom prst="roundRect">
            <a:avLst>
              <a:gd name="adj" fmla="val 2209"/>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245" descr="Quotation QT-2026-005 with four line items and a Convert to project button">    </p:cNvPr>
          <p:cNvPicPr>
            <a:picLocks noChangeAspect="1"/>
          </p:cNvPicPr>
          <p:nvPr/>
        </p:nvPicPr>
        <p:blipFill>
          <a:blip r:embed="rId1"/>
          <a:stretch>
            <a:fillRect/>
          </a:stretch>
        </p:blipFill>
        <p:spPr>
          <a:xfrm>
            <a:off x="621792" y="1371600"/>
            <a:ext cx="6949440" cy="3165856"/>
          </a:xfrm>
          <a:prstGeom prst="rect">
            <a:avLst/>
          </a:prstGeom>
        </p:spPr>
      </p:pic>
      <p:sp>
        <p:nvSpPr>
          <p:cNvPr id="5" name="qt-note-246"/>
          <p:cNvSpPr txBox="1"/>
          <p:nvPr/>
        </p:nvSpPr>
        <p:spPr>
          <a:xfrm>
            <a:off x="548640" y="4857496"/>
            <a:ext cx="7095744" cy="731520"/>
          </a:xfrm>
          <a:prstGeom prst="rect">
            <a:avLst/>
          </a:prstGeom>
          <a:noFill/>
          <a:ln/>
        </p:spPr>
        <p:txBody>
          <a:bodyPr wrap="square" lIns="0" tIns="0" rIns="0" bIns="0" rtlCol="0" anchor="t"/>
          <a:lstStyle/>
          <a:p>
            <a:pPr indent="0" marL="0">
              <a:buNone/>
            </a:pPr>
            <a:r>
              <a:rPr lang="en-US" sz="1400" b="1" dirty="0">
                <a:solidFill>
                  <a:schemeClr val="tx2"/>
                </a:solidFill>
              </a:rPr>
              <a:t>QT-2026-005 · Coastal Logistics: </a:t>
            </a:r>
            <a:pPr indent="0" marL="0">
              <a:buNone/>
            </a:pPr>
            <a:r>
              <a:rPr lang="en-US" sz="1400" dirty="0">
                <a:solidFill>
                  <a:schemeClr val="tx1"/>
                </a:solidFill>
              </a:rPr>
              <a:t>₹40 L quote, ₹28 L estimated cost, 30% expected margin. Approved on 28-Sep-2026 and ready to convert.</a:t>
            </a:r>
            <a:endParaRPr lang="en-US" sz="1400" dirty="0"/>
          </a:p>
        </p:txBody>
      </p:sp>
      <p:sp>
        <p:nvSpPr>
          <p:cNvPr id="6" name="badge-247"/>
          <p:cNvSpPr/>
          <p:nvPr/>
        </p:nvSpPr>
        <p:spPr>
          <a:xfrm>
            <a:off x="7818120" y="1344168"/>
            <a:ext cx="402336" cy="402336"/>
          </a:xfrm>
          <a:prstGeom prst="ellipse">
            <a:avLst/>
          </a:prstGeom>
          <a:solidFill>
            <a:schemeClr val="accent1"/>
          </a:solidFill>
          <a:ln/>
        </p:spPr>
      </p:sp>
      <p:sp>
        <p:nvSpPr>
          <p:cNvPr id="7" name="badge-n-248"/>
          <p:cNvSpPr txBox="1"/>
          <p:nvPr/>
        </p:nvSpPr>
        <p:spPr>
          <a:xfrm>
            <a:off x="7818120" y="134416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8" name="step-h-249"/>
          <p:cNvSpPr txBox="1"/>
          <p:nvPr/>
        </p:nvSpPr>
        <p:spPr>
          <a:xfrm>
            <a:off x="8366760" y="1325880"/>
            <a:ext cx="3276295" cy="384048"/>
          </a:xfrm>
          <a:prstGeom prst="rect">
            <a:avLst/>
          </a:prstGeom>
          <a:noFill/>
          <a:ln/>
        </p:spPr>
        <p:txBody>
          <a:bodyPr wrap="square" lIns="0" tIns="0" rIns="0" bIns="0" rtlCol="0" anchor="ctr"/>
          <a:lstStyle/>
          <a:p>
            <a:pPr indent="0" marL="0">
              <a:buNone/>
            </a:pPr>
            <a:r>
              <a:rPr lang="en-US" sz="1700" b="1" dirty="0">
                <a:solidFill>
                  <a:schemeClr val="tx2"/>
                </a:solidFill>
              </a:rPr>
              <a:t>Create the quotation</a:t>
            </a:r>
            <a:endParaRPr lang="en-US" sz="1700" dirty="0"/>
          </a:p>
        </p:txBody>
      </p:sp>
      <p:sp>
        <p:nvSpPr>
          <p:cNvPr id="9" name="step-b-250"/>
          <p:cNvSpPr txBox="1"/>
          <p:nvPr/>
        </p:nvSpPr>
        <p:spPr>
          <a:xfrm>
            <a:off x="8366760" y="1709928"/>
            <a:ext cx="3276295" cy="685800"/>
          </a:xfrm>
          <a:prstGeom prst="rect">
            <a:avLst/>
          </a:prstGeom>
          <a:noFill/>
          <a:ln/>
        </p:spPr>
        <p:txBody>
          <a:bodyPr wrap="square" lIns="0" tIns="0" rIns="0" bIns="0" rtlCol="0" anchor="t"/>
          <a:lstStyle/>
          <a:p>
            <a:pPr indent="0" marL="0">
              <a:buNone/>
            </a:pPr>
            <a:r>
              <a:rPr lang="en-US" sz="1400" dirty="0">
                <a:solidFill>
                  <a:schemeClr val="tx1"/>
                </a:solidFill>
              </a:rPr>
              <a:t>Add each scope line with its quote value and estimated cost.</a:t>
            </a:r>
            <a:endParaRPr lang="en-US" sz="1400" dirty="0"/>
          </a:p>
        </p:txBody>
      </p:sp>
      <p:sp>
        <p:nvSpPr>
          <p:cNvPr id="10" name="badge-251"/>
          <p:cNvSpPr/>
          <p:nvPr/>
        </p:nvSpPr>
        <p:spPr>
          <a:xfrm>
            <a:off x="7818120" y="2624328"/>
            <a:ext cx="402336" cy="402336"/>
          </a:xfrm>
          <a:prstGeom prst="ellipse">
            <a:avLst/>
          </a:prstGeom>
          <a:solidFill>
            <a:schemeClr val="accent1"/>
          </a:solidFill>
          <a:ln/>
        </p:spPr>
      </p:sp>
      <p:sp>
        <p:nvSpPr>
          <p:cNvPr id="11" name="badge-n-252"/>
          <p:cNvSpPr txBox="1"/>
          <p:nvPr/>
        </p:nvSpPr>
        <p:spPr>
          <a:xfrm>
            <a:off x="7818120" y="262432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2" name="step-h-253"/>
          <p:cNvSpPr txBox="1"/>
          <p:nvPr/>
        </p:nvSpPr>
        <p:spPr>
          <a:xfrm>
            <a:off x="8366760" y="2606040"/>
            <a:ext cx="3276295" cy="384048"/>
          </a:xfrm>
          <a:prstGeom prst="rect">
            <a:avLst/>
          </a:prstGeom>
          <a:noFill/>
          <a:ln/>
        </p:spPr>
        <p:txBody>
          <a:bodyPr wrap="square" lIns="0" tIns="0" rIns="0" bIns="0" rtlCol="0" anchor="ctr"/>
          <a:lstStyle/>
          <a:p>
            <a:pPr indent="0" marL="0">
              <a:buNone/>
            </a:pPr>
            <a:r>
              <a:rPr lang="en-US" sz="1700" b="1" dirty="0">
                <a:solidFill>
                  <a:schemeClr val="tx2"/>
                </a:solidFill>
              </a:rPr>
              <a:t>Send and get approval</a:t>
            </a:r>
            <a:endParaRPr lang="en-US" sz="1700" dirty="0"/>
          </a:p>
        </p:txBody>
      </p:sp>
      <p:sp>
        <p:nvSpPr>
          <p:cNvPr id="13" name="step-b-254"/>
          <p:cNvSpPr txBox="1"/>
          <p:nvPr/>
        </p:nvSpPr>
        <p:spPr>
          <a:xfrm>
            <a:off x="8366760" y="2990088"/>
            <a:ext cx="3276295" cy="685800"/>
          </a:xfrm>
          <a:prstGeom prst="rect">
            <a:avLst/>
          </a:prstGeom>
          <a:noFill/>
          <a:ln/>
        </p:spPr>
        <p:txBody>
          <a:bodyPr wrap="square" lIns="0" tIns="0" rIns="0" bIns="0" rtlCol="0" anchor="t"/>
          <a:lstStyle/>
          <a:p>
            <a:pPr indent="0" marL="0">
              <a:buNone/>
            </a:pPr>
            <a:r>
              <a:rPr lang="en-US" sz="1400" dirty="0">
                <a:solidFill>
                  <a:schemeClr val="tx1"/>
                </a:solidFill>
              </a:rPr>
              <a:t>Draft → Sent → Under Review → Approved (or Rejected / Expired).</a:t>
            </a:r>
            <a:endParaRPr lang="en-US" sz="1400" dirty="0"/>
          </a:p>
        </p:txBody>
      </p:sp>
      <p:sp>
        <p:nvSpPr>
          <p:cNvPr id="14" name="badge-255"/>
          <p:cNvSpPr/>
          <p:nvPr/>
        </p:nvSpPr>
        <p:spPr>
          <a:xfrm>
            <a:off x="7818120" y="3904488"/>
            <a:ext cx="402336" cy="402336"/>
          </a:xfrm>
          <a:prstGeom prst="ellipse">
            <a:avLst/>
          </a:prstGeom>
          <a:solidFill>
            <a:schemeClr val="accent1"/>
          </a:solidFill>
          <a:ln/>
        </p:spPr>
      </p:sp>
      <p:sp>
        <p:nvSpPr>
          <p:cNvPr id="15" name="badge-n-256"/>
          <p:cNvSpPr txBox="1"/>
          <p:nvPr/>
        </p:nvSpPr>
        <p:spPr>
          <a:xfrm>
            <a:off x="7818120" y="390448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6" name="step-h-257"/>
          <p:cNvSpPr txBox="1"/>
          <p:nvPr/>
        </p:nvSpPr>
        <p:spPr>
          <a:xfrm>
            <a:off x="8366760" y="3886200"/>
            <a:ext cx="3276295" cy="384048"/>
          </a:xfrm>
          <a:prstGeom prst="rect">
            <a:avLst/>
          </a:prstGeom>
          <a:noFill/>
          <a:ln/>
        </p:spPr>
        <p:txBody>
          <a:bodyPr wrap="square" lIns="0" tIns="0" rIns="0" bIns="0" rtlCol="0" anchor="ctr"/>
          <a:lstStyle/>
          <a:p>
            <a:pPr indent="0" marL="0">
              <a:buNone/>
            </a:pPr>
            <a:r>
              <a:rPr lang="en-US" sz="1700" b="1" dirty="0">
                <a:solidFill>
                  <a:schemeClr val="tx2"/>
                </a:solidFill>
              </a:rPr>
              <a:t>Convert → Project</a:t>
            </a:r>
            <a:endParaRPr lang="en-US" sz="1700" dirty="0"/>
          </a:p>
        </p:txBody>
      </p:sp>
      <p:sp>
        <p:nvSpPr>
          <p:cNvPr id="17" name="step-b-258"/>
          <p:cNvSpPr txBox="1"/>
          <p:nvPr/>
        </p:nvSpPr>
        <p:spPr>
          <a:xfrm>
            <a:off x="8366760" y="4270248"/>
            <a:ext cx="3276295" cy="914400"/>
          </a:xfrm>
          <a:prstGeom prst="rect">
            <a:avLst/>
          </a:prstGeom>
          <a:noFill/>
          <a:ln/>
        </p:spPr>
        <p:txBody>
          <a:bodyPr wrap="square" lIns="0" tIns="0" rIns="0" bIns="0" rtlCol="0" anchor="t"/>
          <a:lstStyle/>
          <a:p>
            <a:pPr indent="0" marL="0">
              <a:buNone/>
            </a:pPr>
            <a:r>
              <a:rPr lang="en-US" sz="1400" dirty="0">
                <a:solidFill>
                  <a:schemeClr val="tx1"/>
                </a:solidFill>
              </a:rPr>
              <a:t>Lines become phases; estimated cost becomes each phase budget; a contract is created awaiting signature.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Steps 2–3 · Upload the contract, then set budgets and track progress</a:t>
            </a:r>
            <a:endParaRPr lang="en-US" sz="3000" dirty="0"/>
          </a:p>
        </p:txBody>
      </p:sp>
      <p:sp>
        <p:nvSpPr>
          <p:cNvPr id="3" name="frame-259"/>
          <p:cNvSpPr/>
          <p:nvPr/>
        </p:nvSpPr>
        <p:spPr>
          <a:xfrm>
            <a:off x="548640" y="1298448"/>
            <a:ext cx="6729984" cy="4564685"/>
          </a:xfrm>
          <a:prstGeom prst="roundRect">
            <a:avLst>
              <a:gd name="adj" fmla="val 1603"/>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260" descr="Project page for ABC Residential Villa showing workflow strip and KPIs">    </p:cNvPr>
          <p:cNvPicPr>
            <a:picLocks noChangeAspect="1"/>
          </p:cNvPicPr>
          <p:nvPr/>
        </p:nvPicPr>
        <p:blipFill>
          <a:blip r:embed="rId1"/>
          <a:stretch>
            <a:fillRect/>
          </a:stretch>
        </p:blipFill>
        <p:spPr>
          <a:xfrm>
            <a:off x="621792" y="1371600"/>
            <a:ext cx="6583680" cy="4418381"/>
          </a:xfrm>
          <a:prstGeom prst="rect">
            <a:avLst/>
          </a:prstGeom>
        </p:spPr>
      </p:pic>
      <p:sp>
        <p:nvSpPr>
          <p:cNvPr id="5" name="badge-261"/>
          <p:cNvSpPr/>
          <p:nvPr/>
        </p:nvSpPr>
        <p:spPr>
          <a:xfrm>
            <a:off x="7635240" y="1344168"/>
            <a:ext cx="402336" cy="402336"/>
          </a:xfrm>
          <a:prstGeom prst="ellipse">
            <a:avLst/>
          </a:prstGeom>
          <a:solidFill>
            <a:schemeClr val="accent1"/>
          </a:solidFill>
          <a:ln/>
        </p:spPr>
      </p:sp>
      <p:sp>
        <p:nvSpPr>
          <p:cNvPr id="6" name="badge-n-262"/>
          <p:cNvSpPr txBox="1"/>
          <p:nvPr/>
        </p:nvSpPr>
        <p:spPr>
          <a:xfrm>
            <a:off x="7635240" y="134416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7" name="step-h-263"/>
          <p:cNvSpPr txBox="1"/>
          <p:nvPr/>
        </p:nvSpPr>
        <p:spPr>
          <a:xfrm>
            <a:off x="8183880" y="132588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Upload signed contract</a:t>
            </a:r>
            <a:endParaRPr lang="en-US" sz="1700" dirty="0"/>
          </a:p>
        </p:txBody>
      </p:sp>
      <p:sp>
        <p:nvSpPr>
          <p:cNvPr id="8" name="step-b-264"/>
          <p:cNvSpPr txBox="1"/>
          <p:nvPr/>
        </p:nvSpPr>
        <p:spPr>
          <a:xfrm>
            <a:off x="8183880" y="1709928"/>
            <a:ext cx="3459175" cy="594360"/>
          </a:xfrm>
          <a:prstGeom prst="rect">
            <a:avLst/>
          </a:prstGeom>
          <a:noFill/>
          <a:ln/>
        </p:spPr>
        <p:txBody>
          <a:bodyPr wrap="square" lIns="0" tIns="0" rIns="0" bIns="0" rtlCol="0" anchor="t"/>
          <a:lstStyle/>
          <a:p>
            <a:pPr indent="0" marL="0">
              <a:buNone/>
            </a:pPr>
            <a:r>
              <a:rPr lang="en-US" sz="1400" dirty="0">
                <a:solidFill>
                  <a:schemeClr val="tx1"/>
                </a:solidFill>
              </a:rPr>
              <a:t>The contract and the project both switch to Active.</a:t>
            </a:r>
            <a:endParaRPr lang="en-US" sz="1400" dirty="0"/>
          </a:p>
        </p:txBody>
      </p:sp>
      <p:sp>
        <p:nvSpPr>
          <p:cNvPr id="9" name="badge-265"/>
          <p:cNvSpPr/>
          <p:nvPr/>
        </p:nvSpPr>
        <p:spPr>
          <a:xfrm>
            <a:off x="7635240" y="2395728"/>
            <a:ext cx="402336" cy="402336"/>
          </a:xfrm>
          <a:prstGeom prst="ellipse">
            <a:avLst/>
          </a:prstGeom>
          <a:solidFill>
            <a:schemeClr val="accent1"/>
          </a:solidFill>
          <a:ln/>
        </p:spPr>
      </p:sp>
      <p:sp>
        <p:nvSpPr>
          <p:cNvPr id="10" name="badge-n-266"/>
          <p:cNvSpPr txBox="1"/>
          <p:nvPr/>
        </p:nvSpPr>
        <p:spPr>
          <a:xfrm>
            <a:off x="7635240" y="239572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1" name="step-h-267"/>
          <p:cNvSpPr txBox="1"/>
          <p:nvPr/>
        </p:nvSpPr>
        <p:spPr>
          <a:xfrm>
            <a:off x="8183880" y="237744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Set phase budgets</a:t>
            </a:r>
            <a:endParaRPr lang="en-US" sz="1700" dirty="0"/>
          </a:p>
        </p:txBody>
      </p:sp>
      <p:sp>
        <p:nvSpPr>
          <p:cNvPr id="12" name="step-b-268"/>
          <p:cNvSpPr txBox="1"/>
          <p:nvPr/>
        </p:nvSpPr>
        <p:spPr>
          <a:xfrm>
            <a:off x="8183880" y="2761488"/>
            <a:ext cx="3459175" cy="594360"/>
          </a:xfrm>
          <a:prstGeom prst="rect">
            <a:avLst/>
          </a:prstGeom>
          <a:noFill/>
          <a:ln/>
        </p:spPr>
        <p:txBody>
          <a:bodyPr wrap="square" lIns="0" tIns="0" rIns="0" bIns="0" rtlCol="0" anchor="t"/>
          <a:lstStyle/>
          <a:p>
            <a:pPr indent="0" marL="0">
              <a:buNone/>
            </a:pPr>
            <a:r>
              <a:rPr lang="en-US" sz="1400" dirty="0">
                <a:solidFill>
                  <a:schemeClr val="tx1"/>
                </a:solidFill>
              </a:rPr>
              <a:t>Planned material, own labour, outsource and other cost per phase.</a:t>
            </a:r>
            <a:endParaRPr lang="en-US" sz="1400" dirty="0"/>
          </a:p>
        </p:txBody>
      </p:sp>
      <p:sp>
        <p:nvSpPr>
          <p:cNvPr id="13" name="badge-269"/>
          <p:cNvSpPr/>
          <p:nvPr/>
        </p:nvSpPr>
        <p:spPr>
          <a:xfrm>
            <a:off x="7635240" y="3447288"/>
            <a:ext cx="402336" cy="402336"/>
          </a:xfrm>
          <a:prstGeom prst="ellipse">
            <a:avLst/>
          </a:prstGeom>
          <a:solidFill>
            <a:schemeClr val="accent1"/>
          </a:solidFill>
          <a:ln/>
        </p:spPr>
      </p:sp>
      <p:sp>
        <p:nvSpPr>
          <p:cNvPr id="14" name="badge-n-270"/>
          <p:cNvSpPr txBox="1"/>
          <p:nvPr/>
        </p:nvSpPr>
        <p:spPr>
          <a:xfrm>
            <a:off x="7635240" y="344728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5" name="step-h-271"/>
          <p:cNvSpPr txBox="1"/>
          <p:nvPr/>
        </p:nvSpPr>
        <p:spPr>
          <a:xfrm>
            <a:off x="8183880" y="342900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Start and progress phases</a:t>
            </a:r>
            <a:endParaRPr lang="en-US" sz="1700" dirty="0"/>
          </a:p>
        </p:txBody>
      </p:sp>
      <p:sp>
        <p:nvSpPr>
          <p:cNvPr id="16" name="step-b-272"/>
          <p:cNvSpPr txBox="1"/>
          <p:nvPr/>
        </p:nvSpPr>
        <p:spPr>
          <a:xfrm>
            <a:off x="8183880" y="3813048"/>
            <a:ext cx="3459175" cy="594360"/>
          </a:xfrm>
          <a:prstGeom prst="rect">
            <a:avLst/>
          </a:prstGeom>
          <a:noFill/>
          <a:ln/>
        </p:spPr>
        <p:txBody>
          <a:bodyPr wrap="square" lIns="0" tIns="0" rIns="0" bIns="0" rtlCol="0" anchor="t"/>
          <a:lstStyle/>
          <a:p>
            <a:pPr indent="0" marL="0">
              <a:buNone/>
            </a:pPr>
            <a:r>
              <a:rPr lang="en-US" sz="1400" dirty="0">
                <a:solidFill>
                  <a:schemeClr val="tx1"/>
                </a:solidFill>
              </a:rPr>
              <a:t>Planned → In Progress; drag the progress slider as work advances.</a:t>
            </a:r>
            <a:endParaRPr lang="en-US" sz="1400" dirty="0"/>
          </a:p>
        </p:txBody>
      </p:sp>
      <p:sp>
        <p:nvSpPr>
          <p:cNvPr id="17" name="badge-273"/>
          <p:cNvSpPr/>
          <p:nvPr/>
        </p:nvSpPr>
        <p:spPr>
          <a:xfrm>
            <a:off x="7635240" y="4498848"/>
            <a:ext cx="402336" cy="402336"/>
          </a:xfrm>
          <a:prstGeom prst="ellipse">
            <a:avLst/>
          </a:prstGeom>
          <a:solidFill>
            <a:schemeClr val="accent1"/>
          </a:solidFill>
          <a:ln/>
        </p:spPr>
      </p:sp>
      <p:sp>
        <p:nvSpPr>
          <p:cNvPr id="18" name="badge-n-274"/>
          <p:cNvSpPr txBox="1"/>
          <p:nvPr/>
        </p:nvSpPr>
        <p:spPr>
          <a:xfrm>
            <a:off x="7635240" y="449884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19" name="step-h-275"/>
          <p:cNvSpPr txBox="1"/>
          <p:nvPr/>
        </p:nvSpPr>
        <p:spPr>
          <a:xfrm>
            <a:off x="8183880" y="4480560"/>
            <a:ext cx="3459175" cy="384048"/>
          </a:xfrm>
          <a:prstGeom prst="rect">
            <a:avLst/>
          </a:prstGeom>
          <a:noFill/>
          <a:ln/>
        </p:spPr>
        <p:txBody>
          <a:bodyPr wrap="square" lIns="0" tIns="0" rIns="0" bIns="0" rtlCol="0" anchor="ctr"/>
          <a:lstStyle/>
          <a:p>
            <a:pPr indent="0" marL="0">
              <a:buNone/>
            </a:pPr>
            <a:r>
              <a:rPr lang="en-US" sz="1700" b="1" dirty="0">
                <a:solidFill>
                  <a:schemeClr val="tx2"/>
                </a:solidFill>
              </a:rPr>
              <a:t>Completion updates itself</a:t>
            </a:r>
            <a:endParaRPr lang="en-US" sz="1700" dirty="0"/>
          </a:p>
        </p:txBody>
      </p:sp>
      <p:sp>
        <p:nvSpPr>
          <p:cNvPr id="20" name="step-b-276"/>
          <p:cNvSpPr txBox="1"/>
          <p:nvPr/>
        </p:nvSpPr>
        <p:spPr>
          <a:xfrm>
            <a:off x="8183880" y="4864608"/>
            <a:ext cx="3459175" cy="594360"/>
          </a:xfrm>
          <a:prstGeom prst="rect">
            <a:avLst/>
          </a:prstGeom>
          <a:noFill/>
          <a:ln/>
        </p:spPr>
        <p:txBody>
          <a:bodyPr wrap="square" lIns="0" tIns="0" rIns="0" bIns="0" rtlCol="0" anchor="t"/>
          <a:lstStyle/>
          <a:p>
            <a:pPr indent="0" marL="0">
              <a:buNone/>
            </a:pPr>
            <a:r>
              <a:rPr lang="en-US" sz="1400" dirty="0">
                <a:solidFill>
                  <a:schemeClr val="tx1"/>
                </a:solidFill>
              </a:rPr>
              <a:t>Project % is weighted by phase value: ABC Villa is 36% complete.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Step 4 · Three ways to cost work, all calculated for you</a:t>
            </a:r>
            <a:endParaRPr lang="en-US" sz="3000" dirty="0"/>
          </a:p>
        </p:txBody>
      </p:sp>
      <p:sp>
        <p:nvSpPr>
          <p:cNvPr id="3" name="frame-277"/>
          <p:cNvSpPr/>
          <p:nvPr/>
        </p:nvSpPr>
        <p:spPr>
          <a:xfrm>
            <a:off x="6970471" y="1298448"/>
            <a:ext cx="4672584" cy="4906702"/>
          </a:xfrm>
          <a:prstGeom prst="roundRect">
            <a:avLst>
              <a:gd name="adj" fmla="val 1566"/>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278" descr="Record Expense form calculating 2,400 sq.ft × ₹45 = ₹1,08,000">    </p:cNvPr>
          <p:cNvPicPr>
            <a:picLocks noChangeAspect="1"/>
          </p:cNvPicPr>
          <p:nvPr/>
        </p:nvPicPr>
        <p:blipFill>
          <a:blip r:embed="rId1"/>
          <a:stretch>
            <a:fillRect/>
          </a:stretch>
        </p:blipFill>
        <p:spPr>
          <a:xfrm>
            <a:off x="7043623" y="1371600"/>
            <a:ext cx="4526280" cy="4760398"/>
          </a:xfrm>
          <a:prstGeom prst="rect">
            <a:avLst/>
          </a:prstGeom>
        </p:spPr>
      </p:pic>
      <p:sp>
        <p:nvSpPr>
          <p:cNvPr id="5" name="cost-bg-279"/>
          <p:cNvSpPr/>
          <p:nvPr/>
        </p:nvSpPr>
        <p:spPr>
          <a:xfrm>
            <a:off x="548640" y="1371600"/>
            <a:ext cx="6019495" cy="1143000"/>
          </a:xfrm>
          <a:prstGeom prst="roundRect">
            <a:avLst>
              <a:gd name="adj" fmla="val 8000"/>
            </a:avLst>
          </a:prstGeom>
          <a:solidFill>
            <a:schemeClr val="bg2"/>
          </a:solidFill>
          <a:ln/>
        </p:spPr>
      </p:sp>
      <p:sp>
        <p:nvSpPr>
          <p:cNvPr id="6" name="badge-280"/>
          <p:cNvSpPr/>
          <p:nvPr/>
        </p:nvSpPr>
        <p:spPr>
          <a:xfrm>
            <a:off x="777240" y="1572768"/>
            <a:ext cx="402336" cy="402336"/>
          </a:xfrm>
          <a:prstGeom prst="ellipse">
            <a:avLst/>
          </a:prstGeom>
          <a:solidFill>
            <a:schemeClr val="accent1"/>
          </a:solidFill>
          <a:ln/>
        </p:spPr>
      </p:sp>
      <p:sp>
        <p:nvSpPr>
          <p:cNvPr id="7" name="badge-n-281"/>
          <p:cNvSpPr txBox="1"/>
          <p:nvPr/>
        </p:nvSpPr>
        <p:spPr>
          <a:xfrm>
            <a:off x="777240" y="157276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8" name="cost-h-282"/>
          <p:cNvSpPr txBox="1"/>
          <p:nvPr/>
        </p:nvSpPr>
        <p:spPr>
          <a:xfrm>
            <a:off x="1325880" y="1536192"/>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Material</a:t>
            </a:r>
            <a:endParaRPr lang="en-US" sz="1800" dirty="0"/>
          </a:p>
        </p:txBody>
      </p:sp>
      <p:sp>
        <p:nvSpPr>
          <p:cNvPr id="9" name="cost-f-283"/>
          <p:cNvSpPr txBox="1"/>
          <p:nvPr/>
        </p:nvSpPr>
        <p:spPr>
          <a:xfrm>
            <a:off x="3840480" y="1536192"/>
            <a:ext cx="2544775" cy="457200"/>
          </a:xfrm>
          <a:prstGeom prst="rect">
            <a:avLst/>
          </a:prstGeom>
          <a:noFill/>
          <a:ln/>
        </p:spPr>
        <p:txBody>
          <a:bodyPr wrap="square" lIns="0" tIns="0" rIns="0" bIns="0" rtlCol="0" anchor="ctr"/>
          <a:lstStyle/>
          <a:p>
            <a:pPr indent="0" marL="0">
              <a:buNone/>
            </a:pPr>
            <a:r>
              <a:rPr lang="en-US" sz="1500" dirty="0">
                <a:solidFill>
                  <a:schemeClr val="tx1"/>
                </a:solidFill>
              </a:rPr>
              <a:t>Quantity × unit rate</a:t>
            </a:r>
            <a:endParaRPr lang="en-US" sz="1500" dirty="0"/>
          </a:p>
        </p:txBody>
      </p:sp>
      <p:sp>
        <p:nvSpPr>
          <p:cNvPr id="10" name="cost-ex-284"/>
          <p:cNvSpPr txBox="1"/>
          <p:nvPr/>
        </p:nvSpPr>
        <p:spPr>
          <a:xfrm>
            <a:off x="1325880" y="2011680"/>
            <a:ext cx="5059375" cy="365760"/>
          </a:xfrm>
          <a:prstGeom prst="rect">
            <a:avLst/>
          </a:prstGeom>
          <a:noFill/>
          <a:ln/>
        </p:spPr>
        <p:txBody>
          <a:bodyPr wrap="square" lIns="0" tIns="0" rIns="0" bIns="0" rtlCol="0" anchor="ctr"/>
          <a:lstStyle/>
          <a:p>
            <a:pPr indent="0" marL="0">
              <a:buNone/>
            </a:pPr>
            <a:r>
              <a:rPr lang="en-US" sz="1500" b="1" dirty="0">
                <a:solidFill>
                  <a:schemeClr val="accent2"/>
                </a:solidFill>
              </a:rPr>
              <a:t>250 bags × ₹420 = ₹1,05,000</a:t>
            </a:r>
            <a:endParaRPr lang="en-US" sz="1500" dirty="0"/>
          </a:p>
        </p:txBody>
      </p:sp>
      <p:sp>
        <p:nvSpPr>
          <p:cNvPr id="11" name="cost-bg-285"/>
          <p:cNvSpPr/>
          <p:nvPr/>
        </p:nvSpPr>
        <p:spPr>
          <a:xfrm>
            <a:off x="548640" y="2697480"/>
            <a:ext cx="6019495" cy="1143000"/>
          </a:xfrm>
          <a:prstGeom prst="roundRect">
            <a:avLst>
              <a:gd name="adj" fmla="val 8000"/>
            </a:avLst>
          </a:prstGeom>
          <a:solidFill>
            <a:schemeClr val="bg2"/>
          </a:solidFill>
          <a:ln/>
        </p:spPr>
      </p:sp>
      <p:sp>
        <p:nvSpPr>
          <p:cNvPr id="12" name="badge-286"/>
          <p:cNvSpPr/>
          <p:nvPr/>
        </p:nvSpPr>
        <p:spPr>
          <a:xfrm>
            <a:off x="777240" y="2898648"/>
            <a:ext cx="402336" cy="402336"/>
          </a:xfrm>
          <a:prstGeom prst="ellipse">
            <a:avLst/>
          </a:prstGeom>
          <a:solidFill>
            <a:schemeClr val="accent1"/>
          </a:solidFill>
          <a:ln/>
        </p:spPr>
      </p:sp>
      <p:sp>
        <p:nvSpPr>
          <p:cNvPr id="13" name="badge-n-287"/>
          <p:cNvSpPr txBox="1"/>
          <p:nvPr/>
        </p:nvSpPr>
        <p:spPr>
          <a:xfrm>
            <a:off x="777240" y="289864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4" name="cost-h-288"/>
          <p:cNvSpPr txBox="1"/>
          <p:nvPr/>
        </p:nvSpPr>
        <p:spPr>
          <a:xfrm>
            <a:off x="1325880" y="2862072"/>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Own labour</a:t>
            </a:r>
            <a:endParaRPr lang="en-US" sz="1800" dirty="0"/>
          </a:p>
        </p:txBody>
      </p:sp>
      <p:sp>
        <p:nvSpPr>
          <p:cNvPr id="15" name="cost-f-289"/>
          <p:cNvSpPr txBox="1"/>
          <p:nvPr/>
        </p:nvSpPr>
        <p:spPr>
          <a:xfrm>
            <a:off x="3840480" y="2862072"/>
            <a:ext cx="2544775" cy="457200"/>
          </a:xfrm>
          <a:prstGeom prst="rect">
            <a:avLst/>
          </a:prstGeom>
          <a:noFill/>
          <a:ln/>
        </p:spPr>
        <p:txBody>
          <a:bodyPr wrap="square" lIns="0" tIns="0" rIns="0" bIns="0" rtlCol="0" anchor="ctr"/>
          <a:lstStyle/>
          <a:p>
            <a:pPr indent="0" marL="0">
              <a:buNone/>
            </a:pPr>
            <a:r>
              <a:rPr lang="en-US" sz="1500" dirty="0">
                <a:solidFill>
                  <a:schemeClr val="tx1"/>
                </a:solidFill>
              </a:rPr>
              <a:t>Daily rate × working days</a:t>
            </a:r>
            <a:endParaRPr lang="en-US" sz="1500" dirty="0"/>
          </a:p>
        </p:txBody>
      </p:sp>
      <p:sp>
        <p:nvSpPr>
          <p:cNvPr id="16" name="cost-ex-290"/>
          <p:cNvSpPr txBox="1"/>
          <p:nvPr/>
        </p:nvSpPr>
        <p:spPr>
          <a:xfrm>
            <a:off x="1325880" y="3337560"/>
            <a:ext cx="5059375" cy="365760"/>
          </a:xfrm>
          <a:prstGeom prst="rect">
            <a:avLst/>
          </a:prstGeom>
          <a:noFill/>
          <a:ln/>
        </p:spPr>
        <p:txBody>
          <a:bodyPr wrap="square" lIns="0" tIns="0" rIns="0" bIns="0" rtlCol="0" anchor="ctr"/>
          <a:lstStyle/>
          <a:p>
            <a:pPr indent="0" marL="0">
              <a:buNone/>
            </a:pPr>
            <a:r>
              <a:rPr lang="en-US" sz="1500" b="1" dirty="0">
                <a:solidFill>
                  <a:schemeClr val="accent2"/>
                </a:solidFill>
              </a:rPr>
              <a:t>₹1,200 × 25 days = ₹30,000</a:t>
            </a:r>
            <a:endParaRPr lang="en-US" sz="1500" dirty="0"/>
          </a:p>
        </p:txBody>
      </p:sp>
      <p:sp>
        <p:nvSpPr>
          <p:cNvPr id="17" name="cost-bg-291"/>
          <p:cNvSpPr/>
          <p:nvPr/>
        </p:nvSpPr>
        <p:spPr>
          <a:xfrm>
            <a:off x="548640" y="4023360"/>
            <a:ext cx="6019495" cy="1143000"/>
          </a:xfrm>
          <a:prstGeom prst="roundRect">
            <a:avLst>
              <a:gd name="adj" fmla="val 8000"/>
            </a:avLst>
          </a:prstGeom>
          <a:solidFill>
            <a:schemeClr val="bg2"/>
          </a:solidFill>
          <a:ln/>
        </p:spPr>
      </p:sp>
      <p:sp>
        <p:nvSpPr>
          <p:cNvPr id="18" name="badge-292"/>
          <p:cNvSpPr/>
          <p:nvPr/>
        </p:nvSpPr>
        <p:spPr>
          <a:xfrm>
            <a:off x="777240" y="4224528"/>
            <a:ext cx="402336" cy="402336"/>
          </a:xfrm>
          <a:prstGeom prst="ellipse">
            <a:avLst/>
          </a:prstGeom>
          <a:solidFill>
            <a:schemeClr val="accent1"/>
          </a:solidFill>
          <a:ln/>
        </p:spPr>
      </p:sp>
      <p:sp>
        <p:nvSpPr>
          <p:cNvPr id="19" name="badge-n-293"/>
          <p:cNvSpPr txBox="1"/>
          <p:nvPr/>
        </p:nvSpPr>
        <p:spPr>
          <a:xfrm>
            <a:off x="777240" y="4224528"/>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20" name="cost-h-294"/>
          <p:cNvSpPr txBox="1"/>
          <p:nvPr/>
        </p:nvSpPr>
        <p:spPr>
          <a:xfrm>
            <a:off x="1325880" y="4187952"/>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Outsourced work</a:t>
            </a:r>
            <a:endParaRPr lang="en-US" sz="1800" dirty="0"/>
          </a:p>
        </p:txBody>
      </p:sp>
      <p:sp>
        <p:nvSpPr>
          <p:cNvPr id="21" name="cost-f-295"/>
          <p:cNvSpPr txBox="1"/>
          <p:nvPr/>
        </p:nvSpPr>
        <p:spPr>
          <a:xfrm>
            <a:off x="3840480" y="4187952"/>
            <a:ext cx="2544775" cy="457200"/>
          </a:xfrm>
          <a:prstGeom prst="rect">
            <a:avLst/>
          </a:prstGeom>
          <a:noFill/>
          <a:ln/>
        </p:spPr>
        <p:txBody>
          <a:bodyPr wrap="square" lIns="0" tIns="0" rIns="0" bIns="0" rtlCol="0" anchor="ctr"/>
          <a:lstStyle/>
          <a:p>
            <a:pPr indent="0" marL="0">
              <a:buNone/>
            </a:pPr>
            <a:r>
              <a:rPr lang="en-US" sz="1500" dirty="0">
                <a:solidFill>
                  <a:schemeClr val="tx1"/>
                </a:solidFill>
              </a:rPr>
              <a:t>Fixed contract, or quantity × rate</a:t>
            </a:r>
            <a:endParaRPr lang="en-US" sz="1500" dirty="0"/>
          </a:p>
        </p:txBody>
      </p:sp>
      <p:sp>
        <p:nvSpPr>
          <p:cNvPr id="22" name="cost-ex-296"/>
          <p:cNvSpPr txBox="1"/>
          <p:nvPr/>
        </p:nvSpPr>
        <p:spPr>
          <a:xfrm>
            <a:off x="1325880" y="4663440"/>
            <a:ext cx="5059375" cy="365760"/>
          </a:xfrm>
          <a:prstGeom prst="rect">
            <a:avLst/>
          </a:prstGeom>
          <a:noFill/>
          <a:ln/>
        </p:spPr>
        <p:txBody>
          <a:bodyPr wrap="square" lIns="0" tIns="0" rIns="0" bIns="0" rtlCol="0" anchor="ctr"/>
          <a:lstStyle/>
          <a:p>
            <a:pPr indent="0" marL="0">
              <a:buNone/>
            </a:pPr>
            <a:r>
              <a:rPr lang="en-US" sz="1500" b="1" dirty="0">
                <a:solidFill>
                  <a:schemeClr val="accent2"/>
                </a:solidFill>
              </a:rPr>
              <a:t>2,400 sq.ft × ₹45 = ₹1,08,000</a:t>
            </a:r>
            <a:endParaRPr lang="en-US" sz="1500" dirty="0"/>
          </a:p>
        </p:txBody>
      </p:sp>
      <p:sp>
        <p:nvSpPr>
          <p:cNvPr id="23" name="cost-note-297"/>
          <p:cNvSpPr txBox="1"/>
          <p:nvPr/>
        </p:nvSpPr>
        <p:spPr>
          <a:xfrm>
            <a:off x="548640" y="5440680"/>
            <a:ext cx="6019495" cy="685800"/>
          </a:xfrm>
          <a:prstGeom prst="rect">
            <a:avLst/>
          </a:prstGeom>
          <a:noFill/>
          <a:ln/>
        </p:spPr>
        <p:txBody>
          <a:bodyPr wrap="square" lIns="0" tIns="0" rIns="0" bIns="0" rtlCol="0" anchor="t"/>
          <a:lstStyle/>
          <a:p>
            <a:pPr indent="0" marL="0">
              <a:buNone/>
            </a:pPr>
            <a:r>
              <a:rPr lang="en-US" sz="1400" b="1" dirty="0">
                <a:solidFill>
                  <a:schemeClr val="tx2"/>
                </a:solidFill>
              </a:rPr>
              <a:t>Every expense is booked to Project → Phase. </a:t>
            </a:r>
            <a:pPr indent="0" marL="0">
              <a:buNone/>
            </a:pPr>
            <a:r>
              <a:rPr lang="en-US" sz="1400" dirty="0">
                <a:solidFill>
                  <a:schemeClr val="tx1"/>
                </a:solidFill>
              </a:rPr>
              <a:t>Material and outsource entries also create a supplier invoice, and the form warns you before a category goes over budget.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Step 5 · Supplier invoices are payables; payments clear them</a:t>
            </a:r>
            <a:endParaRPr lang="en-US" sz="3000" dirty="0"/>
          </a:p>
        </p:txBody>
      </p:sp>
      <p:sp>
        <p:nvSpPr>
          <p:cNvPr id="3" name="sp-h-298"/>
          <p:cNvSpPr txBox="1"/>
          <p:nvPr/>
        </p:nvSpPr>
        <p:spPr>
          <a:xfrm>
            <a:off x="548640" y="1371600"/>
            <a:ext cx="10058400" cy="365760"/>
          </a:xfrm>
          <a:prstGeom prst="rect">
            <a:avLst/>
          </a:prstGeom>
          <a:noFill/>
          <a:ln/>
        </p:spPr>
        <p:txBody>
          <a:bodyPr wrap="square" lIns="0" tIns="0" rIns="0" bIns="0" rtlCol="0" anchor="ctr"/>
          <a:lstStyle/>
          <a:p>
            <a:pPr indent="0" marL="0">
              <a:buNone/>
            </a:pPr>
            <a:r>
              <a:rPr lang="en-US" sz="1600" b="1" dirty="0">
                <a:solidFill>
                  <a:schemeClr val="tx2"/>
                </a:solidFill>
              </a:rPr>
              <a:t>Example: Kumar Steel Traders · KST-2350 · ABC Villa Structure steel</a:t>
            </a:r>
            <a:endParaRPr lang="en-US" sz="1600" dirty="0"/>
          </a:p>
        </p:txBody>
      </p:sp>
      <p:sp>
        <p:nvSpPr>
          <p:cNvPr id="4" name="sp-paid-299"/>
          <p:cNvSpPr/>
          <p:nvPr/>
        </p:nvSpPr>
        <p:spPr>
          <a:xfrm>
            <a:off x="548640" y="1965960"/>
            <a:ext cx="5098536" cy="731520"/>
          </a:xfrm>
          <a:prstGeom prst="rect">
            <a:avLst/>
          </a:prstGeom>
          <a:solidFill>
            <a:schemeClr val="accent2"/>
          </a:solidFill>
          <a:ln/>
        </p:spPr>
      </p:sp>
      <p:sp>
        <p:nvSpPr>
          <p:cNvPr id="5" name="sp-pend-300"/>
          <p:cNvSpPr/>
          <p:nvPr/>
        </p:nvSpPr>
        <p:spPr>
          <a:xfrm>
            <a:off x="5683752" y="1965960"/>
            <a:ext cx="5959303" cy="731520"/>
          </a:xfrm>
          <a:prstGeom prst="rect">
            <a:avLst/>
          </a:prstGeom>
          <a:solidFill>
            <a:schemeClr val="accent5"/>
          </a:solidFill>
          <a:ln/>
        </p:spPr>
      </p:sp>
      <p:sp>
        <p:nvSpPr>
          <p:cNvPr id="6" name="sp-pl-301"/>
          <p:cNvSpPr txBox="1"/>
          <p:nvPr/>
        </p:nvSpPr>
        <p:spPr>
          <a:xfrm>
            <a:off x="731520" y="1965960"/>
            <a:ext cx="4732776" cy="731520"/>
          </a:xfrm>
          <a:prstGeom prst="rect">
            <a:avLst/>
          </a:prstGeom>
          <a:noFill/>
          <a:ln/>
        </p:spPr>
        <p:txBody>
          <a:bodyPr wrap="square" lIns="0" tIns="0" rIns="0" bIns="0" rtlCol="0" anchor="ctr"/>
          <a:lstStyle/>
          <a:p>
            <a:pPr indent="0" marL="0">
              <a:buNone/>
            </a:pPr>
            <a:r>
              <a:rPr lang="en-US" sz="1600" b="1" dirty="0">
                <a:solidFill>
                  <a:schemeClr val="bg1"/>
                </a:solidFill>
              </a:rPr>
              <a:t>Paid  ₹1,00,000</a:t>
            </a:r>
            <a:endParaRPr lang="en-US" sz="1600" dirty="0"/>
          </a:p>
        </p:txBody>
      </p:sp>
      <p:sp>
        <p:nvSpPr>
          <p:cNvPr id="7" name="sp-ql-302"/>
          <p:cNvSpPr txBox="1"/>
          <p:nvPr/>
        </p:nvSpPr>
        <p:spPr>
          <a:xfrm>
            <a:off x="5875776" y="1965960"/>
            <a:ext cx="5538679" cy="731520"/>
          </a:xfrm>
          <a:prstGeom prst="rect">
            <a:avLst/>
          </a:prstGeom>
          <a:noFill/>
          <a:ln/>
        </p:spPr>
        <p:txBody>
          <a:bodyPr wrap="square" lIns="0" tIns="0" rIns="0" bIns="0" rtlCol="0" anchor="ctr"/>
          <a:lstStyle/>
          <a:p>
            <a:pPr indent="0" marL="0">
              <a:buNone/>
            </a:pPr>
            <a:r>
              <a:rPr lang="en-US" sz="1600" b="1" dirty="0">
                <a:solidFill>
                  <a:schemeClr val="bg1"/>
                </a:solidFill>
              </a:rPr>
              <a:t>Pending  ₹1,17,600 · overdue since 30-Sep</a:t>
            </a:r>
            <a:endParaRPr lang="en-US" sz="1600" dirty="0"/>
          </a:p>
        </p:txBody>
      </p:sp>
      <p:sp>
        <p:nvSpPr>
          <p:cNvPr id="8" name="sp-cap-303"/>
          <p:cNvSpPr txBox="1"/>
          <p:nvPr/>
        </p:nvSpPr>
        <p:spPr>
          <a:xfrm>
            <a:off x="548640" y="2788920"/>
            <a:ext cx="7315200" cy="320040"/>
          </a:xfrm>
          <a:prstGeom prst="rect">
            <a:avLst/>
          </a:prstGeom>
          <a:noFill/>
          <a:ln/>
        </p:spPr>
        <p:txBody>
          <a:bodyPr wrap="square" lIns="0" tIns="0" rIns="0" bIns="0" rtlCol="0" anchor="ctr"/>
          <a:lstStyle/>
          <a:p>
            <a:pPr indent="0" marL="0">
              <a:buNone/>
            </a:pPr>
            <a:r>
              <a:rPr lang="en-US" sz="1300" dirty="0">
                <a:solidFill>
                  <a:schemeClr val="accent6"/>
                </a:solidFill>
              </a:rPr>
              <a:t>Invoice amount ₹2,17,600  (3,200 kg × ₹68)</a:t>
            </a:r>
            <a:endParaRPr lang="en-US" sz="1300" dirty="0"/>
          </a:p>
        </p:txBody>
      </p:sp>
      <p:sp>
        <p:nvSpPr>
          <p:cNvPr id="9" name="sp-c-304"/>
          <p:cNvSpPr/>
          <p:nvPr/>
        </p:nvSpPr>
        <p:spPr>
          <a:xfrm>
            <a:off x="548640" y="3520440"/>
            <a:ext cx="3515258" cy="2377440"/>
          </a:xfrm>
          <a:prstGeom prst="roundRect">
            <a:avLst>
              <a:gd name="adj" fmla="val 3846"/>
            </a:avLst>
          </a:prstGeom>
          <a:solidFill>
            <a:schemeClr val="bg2"/>
          </a:solidFill>
          <a:ln/>
        </p:spPr>
      </p:sp>
      <p:sp>
        <p:nvSpPr>
          <p:cNvPr id="10" name="badge-305"/>
          <p:cNvSpPr/>
          <p:nvPr/>
        </p:nvSpPr>
        <p:spPr>
          <a:xfrm>
            <a:off x="777240" y="3749040"/>
            <a:ext cx="402336" cy="402336"/>
          </a:xfrm>
          <a:prstGeom prst="ellipse">
            <a:avLst/>
          </a:prstGeom>
          <a:solidFill>
            <a:schemeClr val="accent1"/>
          </a:solidFill>
          <a:ln/>
        </p:spPr>
      </p:sp>
      <p:sp>
        <p:nvSpPr>
          <p:cNvPr id="11" name="badge-n-306"/>
          <p:cNvSpPr txBox="1"/>
          <p:nvPr/>
        </p:nvSpPr>
        <p:spPr>
          <a:xfrm>
            <a:off x="777240" y="374904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12" name="sp-ch-307"/>
          <p:cNvSpPr txBox="1"/>
          <p:nvPr/>
        </p:nvSpPr>
        <p:spPr>
          <a:xfrm>
            <a:off x="1325880" y="374904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Expense ≠ payment</a:t>
            </a:r>
            <a:endParaRPr lang="en-US" sz="1800" dirty="0"/>
          </a:p>
        </p:txBody>
      </p:sp>
      <p:sp>
        <p:nvSpPr>
          <p:cNvPr id="13" name="sp-cb-308"/>
          <p:cNvSpPr txBox="1"/>
          <p:nvPr/>
        </p:nvSpPr>
        <p:spPr>
          <a:xfrm>
            <a:off x="777240" y="4343400"/>
            <a:ext cx="3058058" cy="1371600"/>
          </a:xfrm>
          <a:prstGeom prst="rect">
            <a:avLst/>
          </a:prstGeom>
          <a:noFill/>
          <a:ln/>
        </p:spPr>
        <p:txBody>
          <a:bodyPr wrap="square" lIns="0" tIns="0" rIns="0" bIns="0" rtlCol="0" anchor="t"/>
          <a:lstStyle/>
          <a:p>
            <a:pPr indent="0" marL="0">
              <a:buNone/>
            </a:pPr>
            <a:r>
              <a:rPr lang="en-US" sz="1500" dirty="0">
                <a:solidFill>
                  <a:schemeClr val="tx1"/>
                </a:solidFill>
              </a:rPr>
              <a:t>The expense hits project cost the day it is recorded, and profit when its phase completes. The payment only moves cash.</a:t>
            </a:r>
            <a:endParaRPr lang="en-US" sz="1500" dirty="0"/>
          </a:p>
        </p:txBody>
      </p:sp>
      <p:sp>
        <p:nvSpPr>
          <p:cNvPr id="14" name="sp-c-309"/>
          <p:cNvSpPr/>
          <p:nvPr/>
        </p:nvSpPr>
        <p:spPr>
          <a:xfrm>
            <a:off x="4338218" y="3520440"/>
            <a:ext cx="3515258" cy="2377440"/>
          </a:xfrm>
          <a:prstGeom prst="roundRect">
            <a:avLst>
              <a:gd name="adj" fmla="val 3846"/>
            </a:avLst>
          </a:prstGeom>
          <a:solidFill>
            <a:schemeClr val="bg2"/>
          </a:solidFill>
          <a:ln/>
        </p:spPr>
      </p:sp>
      <p:sp>
        <p:nvSpPr>
          <p:cNvPr id="15" name="badge-310"/>
          <p:cNvSpPr/>
          <p:nvPr/>
        </p:nvSpPr>
        <p:spPr>
          <a:xfrm>
            <a:off x="4566818" y="3749040"/>
            <a:ext cx="402336" cy="402336"/>
          </a:xfrm>
          <a:prstGeom prst="ellipse">
            <a:avLst/>
          </a:prstGeom>
          <a:solidFill>
            <a:schemeClr val="accent1"/>
          </a:solidFill>
          <a:ln/>
        </p:spPr>
      </p:sp>
      <p:sp>
        <p:nvSpPr>
          <p:cNvPr id="16" name="badge-n-311"/>
          <p:cNvSpPr txBox="1"/>
          <p:nvPr/>
        </p:nvSpPr>
        <p:spPr>
          <a:xfrm>
            <a:off x="4566818" y="374904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7" name="sp-ch-312"/>
          <p:cNvSpPr txBox="1"/>
          <p:nvPr/>
        </p:nvSpPr>
        <p:spPr>
          <a:xfrm>
            <a:off x="5115458" y="374904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Supplier pending</a:t>
            </a:r>
            <a:endParaRPr lang="en-US" sz="1800" dirty="0"/>
          </a:p>
        </p:txBody>
      </p:sp>
      <p:sp>
        <p:nvSpPr>
          <p:cNvPr id="18" name="sp-cb-313"/>
          <p:cNvSpPr txBox="1"/>
          <p:nvPr/>
        </p:nvSpPr>
        <p:spPr>
          <a:xfrm>
            <a:off x="4566818" y="4343400"/>
            <a:ext cx="3058058" cy="1371600"/>
          </a:xfrm>
          <a:prstGeom prst="rect">
            <a:avLst/>
          </a:prstGeom>
          <a:noFill/>
          <a:ln/>
        </p:spPr>
        <p:txBody>
          <a:bodyPr wrap="square" lIns="0" tIns="0" rIns="0" bIns="0" rtlCol="0" anchor="t"/>
          <a:lstStyle/>
          <a:p>
            <a:pPr indent="0" marL="0">
              <a:buNone/>
            </a:pPr>
            <a:r>
              <a:rPr lang="en-US" sz="1500" dirty="0">
                <a:solidFill>
                  <a:schemeClr val="tx1"/>
                </a:solidFill>
              </a:rPr>
              <a:t>Invoice amount − payments. Several part payments can be made against one invoice.</a:t>
            </a:r>
            <a:endParaRPr lang="en-US" sz="1500" dirty="0"/>
          </a:p>
        </p:txBody>
      </p:sp>
      <p:sp>
        <p:nvSpPr>
          <p:cNvPr id="19" name="sp-c-314"/>
          <p:cNvSpPr/>
          <p:nvPr/>
        </p:nvSpPr>
        <p:spPr>
          <a:xfrm>
            <a:off x="8127797" y="3520440"/>
            <a:ext cx="3515258" cy="2377440"/>
          </a:xfrm>
          <a:prstGeom prst="roundRect">
            <a:avLst>
              <a:gd name="adj" fmla="val 3846"/>
            </a:avLst>
          </a:prstGeom>
          <a:solidFill>
            <a:schemeClr val="bg2"/>
          </a:solidFill>
          <a:ln/>
        </p:spPr>
      </p:sp>
      <p:sp>
        <p:nvSpPr>
          <p:cNvPr id="20" name="badge-315"/>
          <p:cNvSpPr/>
          <p:nvPr/>
        </p:nvSpPr>
        <p:spPr>
          <a:xfrm>
            <a:off x="8356397" y="3749040"/>
            <a:ext cx="402336" cy="402336"/>
          </a:xfrm>
          <a:prstGeom prst="ellipse">
            <a:avLst/>
          </a:prstGeom>
          <a:solidFill>
            <a:schemeClr val="accent1"/>
          </a:solidFill>
          <a:ln/>
        </p:spPr>
      </p:sp>
      <p:sp>
        <p:nvSpPr>
          <p:cNvPr id="21" name="badge-n-316"/>
          <p:cNvSpPr txBox="1"/>
          <p:nvPr/>
        </p:nvSpPr>
        <p:spPr>
          <a:xfrm>
            <a:off x="8356397" y="374904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22" name="sp-ch-317"/>
          <p:cNvSpPr txBox="1"/>
          <p:nvPr/>
        </p:nvSpPr>
        <p:spPr>
          <a:xfrm>
            <a:off x="8905037" y="3749040"/>
            <a:ext cx="2555138" cy="402336"/>
          </a:xfrm>
          <a:prstGeom prst="rect">
            <a:avLst/>
          </a:prstGeom>
          <a:noFill/>
          <a:ln/>
        </p:spPr>
        <p:txBody>
          <a:bodyPr wrap="square" lIns="0" tIns="0" rIns="0" bIns="0" rtlCol="0" anchor="ctr"/>
          <a:lstStyle/>
          <a:p>
            <a:pPr indent="0" marL="0">
              <a:buNone/>
            </a:pPr>
            <a:r>
              <a:rPr lang="en-US" sz="1800" b="1" dirty="0">
                <a:solidFill>
                  <a:schemeClr val="tx2"/>
                </a:solidFill>
              </a:rPr>
              <a:t>Payment status</a:t>
            </a:r>
            <a:endParaRPr lang="en-US" sz="1800" dirty="0"/>
          </a:p>
        </p:txBody>
      </p:sp>
      <p:sp>
        <p:nvSpPr>
          <p:cNvPr id="23" name="sp-cb-318"/>
          <p:cNvSpPr txBox="1"/>
          <p:nvPr/>
        </p:nvSpPr>
        <p:spPr>
          <a:xfrm>
            <a:off x="8356397" y="4343400"/>
            <a:ext cx="3058058" cy="1371600"/>
          </a:xfrm>
          <a:prstGeom prst="rect">
            <a:avLst/>
          </a:prstGeom>
          <a:noFill/>
          <a:ln/>
        </p:spPr>
        <p:txBody>
          <a:bodyPr wrap="square" lIns="0" tIns="0" rIns="0" bIns="0" rtlCol="0" anchor="t"/>
          <a:lstStyle/>
          <a:p>
            <a:pPr indent="0" marL="0">
              <a:buNone/>
            </a:pPr>
            <a:r>
              <a:rPr lang="en-US" sz="1500" dirty="0">
                <a:solidFill>
                  <a:schemeClr val="tx1"/>
                </a:solidFill>
              </a:rPr>
              <a:t>Unpaid → Partially Paid → Paid. Anything past its due date with a balance shows Overdue.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Step 6 · Bill finished work, then record each receipt</a:t>
            </a:r>
            <a:endParaRPr lang="en-US" sz="3000" dirty="0"/>
          </a:p>
        </p:txBody>
      </p:sp>
      <p:sp>
        <p:nvSpPr>
          <p:cNvPr id="3" name="frame-319"/>
          <p:cNvSpPr/>
          <p:nvPr/>
        </p:nvSpPr>
        <p:spPr>
          <a:xfrm>
            <a:off x="548640" y="1298448"/>
            <a:ext cx="7324344" cy="3256788"/>
          </a:xfrm>
          <a:prstGeom prst="roundRect">
            <a:avLst>
              <a:gd name="adj" fmla="val 2246"/>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320" descr="Client Billing page with Ready to bill list">    </p:cNvPr>
          <p:cNvPicPr>
            <a:picLocks noChangeAspect="1"/>
          </p:cNvPicPr>
          <p:nvPr/>
        </p:nvPicPr>
        <p:blipFill>
          <a:blip r:embed="rId1"/>
          <a:stretch>
            <a:fillRect/>
          </a:stretch>
        </p:blipFill>
        <p:spPr>
          <a:xfrm>
            <a:off x="621792" y="1371600"/>
            <a:ext cx="7178040" cy="3110484"/>
          </a:xfrm>
          <a:prstGeom prst="rect">
            <a:avLst/>
          </a:prstGeom>
        </p:spPr>
      </p:pic>
      <p:sp>
        <p:nvSpPr>
          <p:cNvPr id="5" name="bill-note-321"/>
          <p:cNvSpPr txBox="1"/>
          <p:nvPr/>
        </p:nvSpPr>
        <p:spPr>
          <a:xfrm>
            <a:off x="548640" y="4802124"/>
            <a:ext cx="7315200" cy="822960"/>
          </a:xfrm>
          <a:prstGeom prst="rect">
            <a:avLst/>
          </a:prstGeom>
          <a:noFill/>
          <a:ln/>
        </p:spPr>
        <p:txBody>
          <a:bodyPr wrap="square" lIns="0" tIns="0" rIns="0" bIns="0" rtlCol="0" anchor="t"/>
          <a:lstStyle/>
          <a:p>
            <a:pPr indent="0" marL="0">
              <a:buNone/>
            </a:pPr>
            <a:r>
              <a:rPr lang="en-US" sz="1400" dirty="0">
                <a:solidFill>
                  <a:schemeClr val="tx1"/>
                </a:solidFill>
              </a:rPr>
              <a:t>"Billable now" shows completed phases not yet invoiced. A fully billed phase moves to Billed automatically; once fully received it moves to Payment Received.</a:t>
            </a:r>
            <a:endParaRPr lang="en-US" sz="1400" dirty="0"/>
          </a:p>
        </p:txBody>
      </p:sp>
      <p:sp>
        <p:nvSpPr>
          <p:cNvPr id="6" name="bill-h-322"/>
          <p:cNvSpPr txBox="1"/>
          <p:nvPr/>
        </p:nvSpPr>
        <p:spPr>
          <a:xfrm>
            <a:off x="8229600" y="1325880"/>
            <a:ext cx="3413455" cy="365760"/>
          </a:xfrm>
          <a:prstGeom prst="rect">
            <a:avLst/>
          </a:prstGeom>
          <a:noFill/>
          <a:ln/>
        </p:spPr>
        <p:txBody>
          <a:bodyPr wrap="square" lIns="0" tIns="0" rIns="0" bIns="0" rtlCol="0" anchor="ctr"/>
          <a:lstStyle/>
          <a:p>
            <a:pPr indent="0" marL="0">
              <a:buNone/>
            </a:pPr>
            <a:r>
              <a:rPr lang="en-US" sz="1600" b="1" dirty="0">
                <a:solidFill>
                  <a:schemeClr val="tx2"/>
                </a:solidFill>
              </a:rPr>
              <a:t>Example: Foundation, ABC Villa</a:t>
            </a:r>
            <a:endParaRPr lang="en-US" sz="1600" dirty="0"/>
          </a:p>
        </p:txBody>
      </p:sp>
      <p:sp>
        <p:nvSpPr>
          <p:cNvPr id="7" name="eq-bg-323"/>
          <p:cNvSpPr/>
          <p:nvPr/>
        </p:nvSpPr>
        <p:spPr>
          <a:xfrm>
            <a:off x="8229600" y="1828800"/>
            <a:ext cx="3413455" cy="777240"/>
          </a:xfrm>
          <a:prstGeom prst="roundRect">
            <a:avLst>
              <a:gd name="adj" fmla="val 11765"/>
            </a:avLst>
          </a:prstGeom>
          <a:solidFill>
            <a:schemeClr val="bg2"/>
          </a:solidFill>
          <a:ln/>
        </p:spPr>
      </p:sp>
      <p:sp>
        <p:nvSpPr>
          <p:cNvPr id="8" name="eq-l-324"/>
          <p:cNvSpPr txBox="1"/>
          <p:nvPr/>
        </p:nvSpPr>
        <p:spPr>
          <a:xfrm>
            <a:off x="8412480" y="1828800"/>
            <a:ext cx="1706728" cy="777240"/>
          </a:xfrm>
          <a:prstGeom prst="rect">
            <a:avLst/>
          </a:prstGeom>
          <a:noFill/>
          <a:ln/>
        </p:spPr>
        <p:txBody>
          <a:bodyPr wrap="square" lIns="0" tIns="0" rIns="0" bIns="0" rtlCol="0" anchor="ctr"/>
          <a:lstStyle/>
          <a:p>
            <a:pPr indent="0" marL="0">
              <a:buNone/>
            </a:pPr>
            <a:r>
              <a:rPr lang="en-US" sz="1400" dirty="0">
                <a:solidFill>
                  <a:schemeClr val="tx1"/>
                </a:solidFill>
              </a:rPr>
              <a:t>Invoice INV-2026-007</a:t>
            </a:r>
            <a:endParaRPr lang="en-US" sz="1400" dirty="0"/>
          </a:p>
        </p:txBody>
      </p:sp>
      <p:sp>
        <p:nvSpPr>
          <p:cNvPr id="9" name="eq-v-325"/>
          <p:cNvSpPr txBox="1"/>
          <p:nvPr/>
        </p:nvSpPr>
        <p:spPr>
          <a:xfrm>
            <a:off x="9765655" y="1828800"/>
            <a:ext cx="1694520" cy="777240"/>
          </a:xfrm>
          <a:prstGeom prst="rect">
            <a:avLst/>
          </a:prstGeom>
          <a:noFill/>
          <a:ln/>
        </p:spPr>
        <p:txBody>
          <a:bodyPr wrap="square" lIns="0" tIns="0" rIns="0" bIns="0" rtlCol="0" anchor="ctr"/>
          <a:lstStyle/>
          <a:p>
            <a:pPr algn="r" indent="0" marL="0">
              <a:buNone/>
            </a:pPr>
            <a:r>
              <a:rPr lang="en-US" sz="2200" b="1" dirty="0">
                <a:solidFill>
                  <a:schemeClr val="tx2"/>
                </a:solidFill>
              </a:rPr>
              <a:t>₹8,00,000</a:t>
            </a:r>
            <a:endParaRPr lang="en-US" sz="2200" dirty="0"/>
          </a:p>
        </p:txBody>
      </p:sp>
      <p:sp>
        <p:nvSpPr>
          <p:cNvPr id="10" name="eq-bg-326"/>
          <p:cNvSpPr/>
          <p:nvPr/>
        </p:nvSpPr>
        <p:spPr>
          <a:xfrm>
            <a:off x="8229600" y="2743200"/>
            <a:ext cx="3413455" cy="777240"/>
          </a:xfrm>
          <a:prstGeom prst="roundRect">
            <a:avLst>
              <a:gd name="adj" fmla="val 11765"/>
            </a:avLst>
          </a:prstGeom>
          <a:solidFill>
            <a:schemeClr val="bg2"/>
          </a:solidFill>
          <a:ln/>
        </p:spPr>
      </p:sp>
      <p:sp>
        <p:nvSpPr>
          <p:cNvPr id="11" name="eq-l-327"/>
          <p:cNvSpPr txBox="1"/>
          <p:nvPr/>
        </p:nvSpPr>
        <p:spPr>
          <a:xfrm>
            <a:off x="8412480" y="2743200"/>
            <a:ext cx="1706728" cy="777240"/>
          </a:xfrm>
          <a:prstGeom prst="rect">
            <a:avLst/>
          </a:prstGeom>
          <a:noFill/>
          <a:ln/>
        </p:spPr>
        <p:txBody>
          <a:bodyPr wrap="square" lIns="0" tIns="0" rIns="0" bIns="0" rtlCol="0" anchor="ctr"/>
          <a:lstStyle/>
          <a:p>
            <a:pPr indent="0" marL="0">
              <a:buNone/>
            </a:pPr>
            <a:r>
              <a:rPr lang="en-US" sz="1400" dirty="0">
                <a:solidFill>
                  <a:schemeClr val="tx1"/>
                </a:solidFill>
              </a:rPr>
              <a:t>− Payment 10-Sep</a:t>
            </a:r>
            <a:endParaRPr lang="en-US" sz="1400" dirty="0"/>
          </a:p>
        </p:txBody>
      </p:sp>
      <p:sp>
        <p:nvSpPr>
          <p:cNvPr id="12" name="eq-v-328"/>
          <p:cNvSpPr txBox="1"/>
          <p:nvPr/>
        </p:nvSpPr>
        <p:spPr>
          <a:xfrm>
            <a:off x="9765655" y="2743200"/>
            <a:ext cx="1694520" cy="777240"/>
          </a:xfrm>
          <a:prstGeom prst="rect">
            <a:avLst/>
          </a:prstGeom>
          <a:noFill/>
          <a:ln/>
        </p:spPr>
        <p:txBody>
          <a:bodyPr wrap="square" lIns="0" tIns="0" rIns="0" bIns="0" rtlCol="0" anchor="ctr"/>
          <a:lstStyle/>
          <a:p>
            <a:pPr algn="r" indent="0" marL="0">
              <a:buNone/>
            </a:pPr>
            <a:r>
              <a:rPr lang="en-US" sz="2200" b="1" dirty="0">
                <a:solidFill>
                  <a:schemeClr val="accent3"/>
                </a:solidFill>
              </a:rPr>
              <a:t>₹4,00,000</a:t>
            </a:r>
            <a:endParaRPr lang="en-US" sz="2200" dirty="0"/>
          </a:p>
        </p:txBody>
      </p:sp>
      <p:sp>
        <p:nvSpPr>
          <p:cNvPr id="13" name="eq-bg-329"/>
          <p:cNvSpPr/>
          <p:nvPr/>
        </p:nvSpPr>
        <p:spPr>
          <a:xfrm>
            <a:off x="8229600" y="3657600"/>
            <a:ext cx="3413455" cy="777240"/>
          </a:xfrm>
          <a:prstGeom prst="roundRect">
            <a:avLst>
              <a:gd name="adj" fmla="val 11765"/>
            </a:avLst>
          </a:prstGeom>
          <a:solidFill>
            <a:schemeClr val="bg2"/>
          </a:solidFill>
          <a:ln/>
        </p:spPr>
      </p:sp>
      <p:sp>
        <p:nvSpPr>
          <p:cNvPr id="14" name="eq-l-330"/>
          <p:cNvSpPr txBox="1"/>
          <p:nvPr/>
        </p:nvSpPr>
        <p:spPr>
          <a:xfrm>
            <a:off x="8412480" y="3657600"/>
            <a:ext cx="1706728" cy="777240"/>
          </a:xfrm>
          <a:prstGeom prst="rect">
            <a:avLst/>
          </a:prstGeom>
          <a:noFill/>
          <a:ln/>
        </p:spPr>
        <p:txBody>
          <a:bodyPr wrap="square" lIns="0" tIns="0" rIns="0" bIns="0" rtlCol="0" anchor="ctr"/>
          <a:lstStyle/>
          <a:p>
            <a:pPr indent="0" marL="0">
              <a:buNone/>
            </a:pPr>
            <a:r>
              <a:rPr lang="en-US" sz="1400" dirty="0">
                <a:solidFill>
                  <a:schemeClr val="tx1"/>
                </a:solidFill>
              </a:rPr>
              <a:t>− Payment 25-Sep</a:t>
            </a:r>
            <a:endParaRPr lang="en-US" sz="1400" dirty="0"/>
          </a:p>
        </p:txBody>
      </p:sp>
      <p:sp>
        <p:nvSpPr>
          <p:cNvPr id="15" name="eq-v-331"/>
          <p:cNvSpPr txBox="1"/>
          <p:nvPr/>
        </p:nvSpPr>
        <p:spPr>
          <a:xfrm>
            <a:off x="9765655" y="3657600"/>
            <a:ext cx="1694520" cy="777240"/>
          </a:xfrm>
          <a:prstGeom prst="rect">
            <a:avLst/>
          </a:prstGeom>
          <a:noFill/>
          <a:ln/>
        </p:spPr>
        <p:txBody>
          <a:bodyPr wrap="square" lIns="0" tIns="0" rIns="0" bIns="0" rtlCol="0" anchor="ctr"/>
          <a:lstStyle/>
          <a:p>
            <a:pPr algn="r" indent="0" marL="0">
              <a:buNone/>
            </a:pPr>
            <a:r>
              <a:rPr lang="en-US" sz="2200" b="1" dirty="0">
                <a:solidFill>
                  <a:schemeClr val="accent3"/>
                </a:solidFill>
              </a:rPr>
              <a:t>₹2,00,000</a:t>
            </a:r>
            <a:endParaRPr lang="en-US" sz="2200" dirty="0"/>
          </a:p>
        </p:txBody>
      </p:sp>
      <p:sp>
        <p:nvSpPr>
          <p:cNvPr id="16" name="eq-bg-332"/>
          <p:cNvSpPr/>
          <p:nvPr/>
        </p:nvSpPr>
        <p:spPr>
          <a:xfrm>
            <a:off x="8229600" y="4572000"/>
            <a:ext cx="3413455" cy="777240"/>
          </a:xfrm>
          <a:prstGeom prst="roundRect">
            <a:avLst>
              <a:gd name="adj" fmla="val 11765"/>
            </a:avLst>
          </a:prstGeom>
          <a:solidFill>
            <a:schemeClr val="bg2"/>
          </a:solidFill>
          <a:ln/>
        </p:spPr>
      </p:sp>
      <p:sp>
        <p:nvSpPr>
          <p:cNvPr id="17" name="eq-l-333"/>
          <p:cNvSpPr txBox="1"/>
          <p:nvPr/>
        </p:nvSpPr>
        <p:spPr>
          <a:xfrm>
            <a:off x="8412480" y="4572000"/>
            <a:ext cx="1706728" cy="777240"/>
          </a:xfrm>
          <a:prstGeom prst="rect">
            <a:avLst/>
          </a:prstGeom>
          <a:noFill/>
          <a:ln/>
        </p:spPr>
        <p:txBody>
          <a:bodyPr wrap="square" lIns="0" tIns="0" rIns="0" bIns="0" rtlCol="0" anchor="ctr"/>
          <a:lstStyle/>
          <a:p>
            <a:pPr indent="0" marL="0">
              <a:buNone/>
            </a:pPr>
            <a:r>
              <a:rPr lang="en-US" sz="1400" dirty="0">
                <a:solidFill>
                  <a:schemeClr val="tx1"/>
                </a:solidFill>
              </a:rPr>
              <a:t>= Pending, overdue</a:t>
            </a:r>
            <a:endParaRPr lang="en-US" sz="1400" dirty="0"/>
          </a:p>
        </p:txBody>
      </p:sp>
      <p:sp>
        <p:nvSpPr>
          <p:cNvPr id="18" name="eq-v-334"/>
          <p:cNvSpPr txBox="1"/>
          <p:nvPr/>
        </p:nvSpPr>
        <p:spPr>
          <a:xfrm>
            <a:off x="9765655" y="4572000"/>
            <a:ext cx="1694520" cy="777240"/>
          </a:xfrm>
          <a:prstGeom prst="rect">
            <a:avLst/>
          </a:prstGeom>
          <a:noFill/>
          <a:ln/>
        </p:spPr>
        <p:txBody>
          <a:bodyPr wrap="square" lIns="0" tIns="0" rIns="0" bIns="0" rtlCol="0" anchor="ctr"/>
          <a:lstStyle/>
          <a:p>
            <a:pPr algn="r" indent="0" marL="0">
              <a:buNone/>
            </a:pPr>
            <a:r>
              <a:rPr lang="en-US" sz="2200" b="1" dirty="0">
                <a:solidFill>
                  <a:schemeClr val="accent5"/>
                </a:solidFill>
              </a:rPr>
              <a:t>₹2,00,000</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Step 7 · Approved change orders add revenue and their own phase</a:t>
            </a:r>
            <a:endParaRPr lang="en-US" sz="3000" dirty="0"/>
          </a:p>
        </p:txBody>
      </p:sp>
      <p:sp>
        <p:nvSpPr>
          <p:cNvPr id="3" name="frame-335"/>
          <p:cNvSpPr/>
          <p:nvPr/>
        </p:nvSpPr>
        <p:spPr>
          <a:xfrm>
            <a:off x="548640" y="1298448"/>
            <a:ext cx="7324344" cy="3097276"/>
          </a:xfrm>
          <a:prstGeom prst="roundRect">
            <a:avLst>
              <a:gd name="adj" fmla="val 2362"/>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336" descr="Change orders tab showing CO-2026-001 approved">    </p:cNvPr>
          <p:cNvPicPr>
            <a:picLocks noChangeAspect="1"/>
          </p:cNvPicPr>
          <p:nvPr/>
        </p:nvPicPr>
        <p:blipFill>
          <a:blip r:embed="rId1"/>
          <a:stretch>
            <a:fillRect/>
          </a:stretch>
        </p:blipFill>
        <p:spPr>
          <a:xfrm>
            <a:off x="621792" y="1371600"/>
            <a:ext cx="7178040" cy="2950972"/>
          </a:xfrm>
          <a:prstGeom prst="rect">
            <a:avLst/>
          </a:prstGeom>
        </p:spPr>
      </p:pic>
      <p:sp>
        <p:nvSpPr>
          <p:cNvPr id="5" name="co-note-337"/>
          <p:cNvSpPr txBox="1"/>
          <p:nvPr/>
        </p:nvSpPr>
        <p:spPr>
          <a:xfrm>
            <a:off x="548640" y="4642612"/>
            <a:ext cx="7315200" cy="822960"/>
          </a:xfrm>
          <a:prstGeom prst="rect">
            <a:avLst/>
          </a:prstGeom>
          <a:noFill/>
          <a:ln/>
        </p:spPr>
        <p:txBody>
          <a:bodyPr wrap="square" lIns="0" tIns="0" rIns="0" bIns="0" rtlCol="0" anchor="t"/>
          <a:lstStyle/>
          <a:p>
            <a:pPr indent="0" marL="0">
              <a:buNone/>
            </a:pPr>
            <a:r>
              <a:rPr lang="en-US" sz="1400" dirty="0">
                <a:solidFill>
                  <a:schemeClr val="tx1"/>
                </a:solidFill>
              </a:rPr>
              <a:t>Approval creates phase PH-005 with a ₹3,00,000 budget, so the extra work is costed, billed and profit-recognised like any other phase.</a:t>
            </a:r>
            <a:endParaRPr lang="en-US" sz="1400" dirty="0"/>
          </a:p>
        </p:txBody>
      </p:sp>
      <p:sp>
        <p:nvSpPr>
          <p:cNvPr id="6" name="co-h-338"/>
          <p:cNvSpPr txBox="1"/>
          <p:nvPr/>
        </p:nvSpPr>
        <p:spPr>
          <a:xfrm>
            <a:off x="8229600" y="1325880"/>
            <a:ext cx="3413455" cy="365760"/>
          </a:xfrm>
          <a:prstGeom prst="rect">
            <a:avLst/>
          </a:prstGeom>
          <a:noFill/>
          <a:ln/>
        </p:spPr>
        <p:txBody>
          <a:bodyPr wrap="square" lIns="0" tIns="0" rIns="0" bIns="0" rtlCol="0" anchor="ctr"/>
          <a:lstStyle/>
          <a:p>
            <a:pPr indent="0" marL="0">
              <a:buNone/>
            </a:pPr>
            <a:r>
              <a:rPr lang="en-US" sz="1600" b="1" dirty="0">
                <a:solidFill>
                  <a:schemeClr val="tx2"/>
                </a:solidFill>
              </a:rPr>
              <a:t>CO-2026-001 · compound wall</a:t>
            </a:r>
            <a:endParaRPr lang="en-US" sz="1600" dirty="0"/>
          </a:p>
        </p:txBody>
      </p:sp>
      <p:sp>
        <p:nvSpPr>
          <p:cNvPr id="7" name="eq-bg-339"/>
          <p:cNvSpPr/>
          <p:nvPr/>
        </p:nvSpPr>
        <p:spPr>
          <a:xfrm>
            <a:off x="8229600" y="1828800"/>
            <a:ext cx="3413455" cy="777240"/>
          </a:xfrm>
          <a:prstGeom prst="roundRect">
            <a:avLst>
              <a:gd name="adj" fmla="val 11765"/>
            </a:avLst>
          </a:prstGeom>
          <a:solidFill>
            <a:schemeClr val="bg2"/>
          </a:solidFill>
          <a:ln/>
        </p:spPr>
      </p:sp>
      <p:sp>
        <p:nvSpPr>
          <p:cNvPr id="8" name="eq-l-340"/>
          <p:cNvSpPr txBox="1"/>
          <p:nvPr/>
        </p:nvSpPr>
        <p:spPr>
          <a:xfrm>
            <a:off x="8412480" y="1828800"/>
            <a:ext cx="1706728" cy="777240"/>
          </a:xfrm>
          <a:prstGeom prst="rect">
            <a:avLst/>
          </a:prstGeom>
          <a:noFill/>
          <a:ln/>
        </p:spPr>
        <p:txBody>
          <a:bodyPr wrap="square" lIns="0" tIns="0" rIns="0" bIns="0" rtlCol="0" anchor="ctr"/>
          <a:lstStyle/>
          <a:p>
            <a:pPr indent="0" marL="0">
              <a:buNone/>
            </a:pPr>
            <a:r>
              <a:rPr lang="en-US" sz="1400" dirty="0">
                <a:solidFill>
                  <a:schemeClr val="tx1"/>
                </a:solidFill>
              </a:rPr>
              <a:t>Original contract</a:t>
            </a:r>
            <a:endParaRPr lang="en-US" sz="1400" dirty="0"/>
          </a:p>
        </p:txBody>
      </p:sp>
      <p:sp>
        <p:nvSpPr>
          <p:cNvPr id="9" name="eq-v-341"/>
          <p:cNvSpPr txBox="1"/>
          <p:nvPr/>
        </p:nvSpPr>
        <p:spPr>
          <a:xfrm>
            <a:off x="9765655" y="1828800"/>
            <a:ext cx="1694520" cy="777240"/>
          </a:xfrm>
          <a:prstGeom prst="rect">
            <a:avLst/>
          </a:prstGeom>
          <a:noFill/>
          <a:ln/>
        </p:spPr>
        <p:txBody>
          <a:bodyPr wrap="square" lIns="0" tIns="0" rIns="0" bIns="0" rtlCol="0" anchor="ctr"/>
          <a:lstStyle/>
          <a:p>
            <a:pPr algn="r" indent="0" marL="0">
              <a:buNone/>
            </a:pPr>
            <a:r>
              <a:rPr lang="en-US" sz="2200" b="1" dirty="0">
                <a:solidFill>
                  <a:schemeClr val="tx2"/>
                </a:solidFill>
              </a:rPr>
              <a:t>₹50,00,000</a:t>
            </a:r>
            <a:endParaRPr lang="en-US" sz="2200" dirty="0"/>
          </a:p>
        </p:txBody>
      </p:sp>
      <p:sp>
        <p:nvSpPr>
          <p:cNvPr id="10" name="eq-bg-342"/>
          <p:cNvSpPr/>
          <p:nvPr/>
        </p:nvSpPr>
        <p:spPr>
          <a:xfrm>
            <a:off x="8229600" y="2743200"/>
            <a:ext cx="3413455" cy="777240"/>
          </a:xfrm>
          <a:prstGeom prst="roundRect">
            <a:avLst>
              <a:gd name="adj" fmla="val 11765"/>
            </a:avLst>
          </a:prstGeom>
          <a:solidFill>
            <a:schemeClr val="bg2"/>
          </a:solidFill>
          <a:ln/>
        </p:spPr>
      </p:sp>
      <p:sp>
        <p:nvSpPr>
          <p:cNvPr id="11" name="eq-l-343"/>
          <p:cNvSpPr txBox="1"/>
          <p:nvPr/>
        </p:nvSpPr>
        <p:spPr>
          <a:xfrm>
            <a:off x="8412480" y="2743200"/>
            <a:ext cx="1706728" cy="777240"/>
          </a:xfrm>
          <a:prstGeom prst="rect">
            <a:avLst/>
          </a:prstGeom>
          <a:noFill/>
          <a:ln/>
        </p:spPr>
        <p:txBody>
          <a:bodyPr wrap="square" lIns="0" tIns="0" rIns="0" bIns="0" rtlCol="0" anchor="ctr"/>
          <a:lstStyle/>
          <a:p>
            <a:pPr indent="0" marL="0">
              <a:buNone/>
            </a:pPr>
            <a:r>
              <a:rPr lang="en-US" sz="1400" dirty="0">
                <a:solidFill>
                  <a:schemeClr val="tx1"/>
                </a:solidFill>
              </a:rPr>
              <a:t>+ Change order</a:t>
            </a:r>
            <a:endParaRPr lang="en-US" sz="1400" dirty="0"/>
          </a:p>
        </p:txBody>
      </p:sp>
      <p:sp>
        <p:nvSpPr>
          <p:cNvPr id="12" name="eq-v-344"/>
          <p:cNvSpPr txBox="1"/>
          <p:nvPr/>
        </p:nvSpPr>
        <p:spPr>
          <a:xfrm>
            <a:off x="9765655" y="2743200"/>
            <a:ext cx="1694520" cy="777240"/>
          </a:xfrm>
          <a:prstGeom prst="rect">
            <a:avLst/>
          </a:prstGeom>
          <a:noFill/>
          <a:ln/>
        </p:spPr>
        <p:txBody>
          <a:bodyPr wrap="square" lIns="0" tIns="0" rIns="0" bIns="0" rtlCol="0" anchor="ctr"/>
          <a:lstStyle/>
          <a:p>
            <a:pPr algn="r" indent="0" marL="0">
              <a:buNone/>
            </a:pPr>
            <a:r>
              <a:rPr lang="en-US" sz="2200" b="1" dirty="0">
                <a:solidFill>
                  <a:schemeClr val="accent2"/>
                </a:solidFill>
              </a:rPr>
              <a:t>₹5,00,000</a:t>
            </a:r>
            <a:endParaRPr lang="en-US" sz="2200" dirty="0"/>
          </a:p>
        </p:txBody>
      </p:sp>
      <p:sp>
        <p:nvSpPr>
          <p:cNvPr id="13" name="eq-bg-345"/>
          <p:cNvSpPr/>
          <p:nvPr/>
        </p:nvSpPr>
        <p:spPr>
          <a:xfrm>
            <a:off x="8229600" y="3657600"/>
            <a:ext cx="3413455" cy="777240"/>
          </a:xfrm>
          <a:prstGeom prst="roundRect">
            <a:avLst>
              <a:gd name="adj" fmla="val 11765"/>
            </a:avLst>
          </a:prstGeom>
          <a:solidFill>
            <a:schemeClr val="bg2"/>
          </a:solidFill>
          <a:ln/>
        </p:spPr>
      </p:sp>
      <p:sp>
        <p:nvSpPr>
          <p:cNvPr id="14" name="eq-l-346"/>
          <p:cNvSpPr txBox="1"/>
          <p:nvPr/>
        </p:nvSpPr>
        <p:spPr>
          <a:xfrm>
            <a:off x="8412480" y="3657600"/>
            <a:ext cx="1706728" cy="777240"/>
          </a:xfrm>
          <a:prstGeom prst="rect">
            <a:avLst/>
          </a:prstGeom>
          <a:noFill/>
          <a:ln/>
        </p:spPr>
        <p:txBody>
          <a:bodyPr wrap="square" lIns="0" tIns="0" rIns="0" bIns="0" rtlCol="0" anchor="ctr"/>
          <a:lstStyle/>
          <a:p>
            <a:pPr indent="0" marL="0">
              <a:buNone/>
            </a:pPr>
            <a:r>
              <a:rPr lang="en-US" sz="1400" dirty="0">
                <a:solidFill>
                  <a:schemeClr val="tx1"/>
                </a:solidFill>
              </a:rPr>
              <a:t>= Revised contract</a:t>
            </a:r>
            <a:endParaRPr lang="en-US" sz="1400" dirty="0"/>
          </a:p>
        </p:txBody>
      </p:sp>
      <p:sp>
        <p:nvSpPr>
          <p:cNvPr id="15" name="eq-v-347"/>
          <p:cNvSpPr txBox="1"/>
          <p:nvPr/>
        </p:nvSpPr>
        <p:spPr>
          <a:xfrm>
            <a:off x="9765655" y="3657600"/>
            <a:ext cx="1694520" cy="777240"/>
          </a:xfrm>
          <a:prstGeom prst="rect">
            <a:avLst/>
          </a:prstGeom>
          <a:noFill/>
          <a:ln/>
        </p:spPr>
        <p:txBody>
          <a:bodyPr wrap="square" lIns="0" tIns="0" rIns="0" bIns="0" rtlCol="0" anchor="ctr"/>
          <a:lstStyle/>
          <a:p>
            <a:pPr algn="r" indent="0" marL="0">
              <a:buNone/>
            </a:pPr>
            <a:r>
              <a:rPr lang="en-US" sz="2200" b="1" dirty="0">
                <a:solidFill>
                  <a:schemeClr val="tx2"/>
                </a:solidFill>
              </a:rPr>
              <a:t>₹55,00,000</a:t>
            </a:r>
            <a:endParaRPr lang="en-US" sz="2200" dirty="0"/>
          </a:p>
        </p:txBody>
      </p:sp>
      <p:sp>
        <p:nvSpPr>
          <p:cNvPr id="16" name="eq-bg-348"/>
          <p:cNvSpPr/>
          <p:nvPr/>
        </p:nvSpPr>
        <p:spPr>
          <a:xfrm>
            <a:off x="8229600" y="4572000"/>
            <a:ext cx="3413455" cy="777240"/>
          </a:xfrm>
          <a:prstGeom prst="roundRect">
            <a:avLst>
              <a:gd name="adj" fmla="val 11765"/>
            </a:avLst>
          </a:prstGeom>
          <a:solidFill>
            <a:schemeClr val="bg2"/>
          </a:solidFill>
          <a:ln/>
        </p:spPr>
      </p:sp>
      <p:sp>
        <p:nvSpPr>
          <p:cNvPr id="17" name="eq-l-349"/>
          <p:cNvSpPr txBox="1"/>
          <p:nvPr/>
        </p:nvSpPr>
        <p:spPr>
          <a:xfrm>
            <a:off x="8412480" y="4572000"/>
            <a:ext cx="1706728" cy="777240"/>
          </a:xfrm>
          <a:prstGeom prst="rect">
            <a:avLst/>
          </a:prstGeom>
          <a:noFill/>
          <a:ln/>
        </p:spPr>
        <p:txBody>
          <a:bodyPr wrap="square" lIns="0" tIns="0" rIns="0" bIns="0" rtlCol="0" anchor="ctr"/>
          <a:lstStyle/>
          <a:p>
            <a:pPr indent="0" marL="0">
              <a:buNone/>
            </a:pPr>
            <a:r>
              <a:rPr lang="en-US" sz="1400" dirty="0">
                <a:solidFill>
                  <a:schemeClr val="tx1"/>
                </a:solidFill>
              </a:rPr>
              <a:t>Extra profit (est.)</a:t>
            </a:r>
            <a:endParaRPr lang="en-US" sz="1400" dirty="0"/>
          </a:p>
        </p:txBody>
      </p:sp>
      <p:sp>
        <p:nvSpPr>
          <p:cNvPr id="18" name="eq-v-350"/>
          <p:cNvSpPr txBox="1"/>
          <p:nvPr/>
        </p:nvSpPr>
        <p:spPr>
          <a:xfrm>
            <a:off x="9765655" y="4572000"/>
            <a:ext cx="1694520" cy="777240"/>
          </a:xfrm>
          <a:prstGeom prst="rect">
            <a:avLst/>
          </a:prstGeom>
          <a:noFill/>
          <a:ln/>
        </p:spPr>
        <p:txBody>
          <a:bodyPr wrap="square" lIns="0" tIns="0" rIns="0" bIns="0" rtlCol="0" anchor="ctr"/>
          <a:lstStyle/>
          <a:p>
            <a:pPr algn="r" indent="0" marL="0">
              <a:buNone/>
            </a:pPr>
            <a:r>
              <a:rPr lang="en-US" sz="2200" b="1" dirty="0">
                <a:solidFill>
                  <a:schemeClr val="accent3"/>
                </a:solidFill>
              </a:rPr>
              <a:t>₹2,00,000</a:t>
            </a:r>
            <a:endParaRPr lang="en-US" sz="2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Step 8 · Closure locks the final numbers: SRK made ₹12.76 L</a:t>
            </a:r>
            <a:endParaRPr lang="en-US" sz="3000" dirty="0"/>
          </a:p>
        </p:txBody>
      </p:sp>
      <p:sp>
        <p:nvSpPr>
          <p:cNvPr id="3" name="frame-351"/>
          <p:cNvSpPr/>
          <p:nvPr/>
        </p:nvSpPr>
        <p:spPr>
          <a:xfrm>
            <a:off x="548640" y="1298448"/>
            <a:ext cx="6181344" cy="4196486"/>
          </a:xfrm>
          <a:prstGeom prst="roundRect">
            <a:avLst>
              <a:gd name="adj" fmla="val 1743"/>
            </a:avLst>
          </a:prstGeom>
          <a:solidFill>
            <a:schemeClr val="bg1"/>
          </a:solidFill>
          <a:ln w="9525">
            <a:solidFill>
              <a:srgbClr val="D5DCE6"/>
            </a:solidFill>
            <a:prstDash val="solid"/>
          </a:ln>
          <a:effectLst>
            <a:outerShdw sx="100000" sy="100000" kx="0" ky="0" algn="bl" rotWithShape="0" blurRad="101600" dist="25400" dir="5400000">
              <a:srgbClr val="0F172A">
                <a:alpha val="18000"/>
              </a:srgbClr>
            </a:outerShdw>
          </a:effectLst>
        </p:spPr>
      </p:sp>
      <p:pic>
        <p:nvPicPr>
          <p:cNvPr id="4" name="screenshot-352" descr="Project closure report for SRK Warehouse">    </p:cNvPr>
          <p:cNvPicPr>
            <a:picLocks noChangeAspect="1"/>
          </p:cNvPicPr>
          <p:nvPr/>
        </p:nvPicPr>
        <p:blipFill>
          <a:blip r:embed="rId1"/>
          <a:stretch>
            <a:fillRect/>
          </a:stretch>
        </p:blipFill>
        <p:spPr>
          <a:xfrm>
            <a:off x="621792" y="1371600"/>
            <a:ext cx="6035040" cy="4050182"/>
          </a:xfrm>
          <a:prstGeom prst="rect">
            <a:avLst/>
          </a:prstGeom>
        </p:spPr>
      </p:pic>
      <p:sp>
        <p:nvSpPr>
          <p:cNvPr id="5" name="stat-bg-353"/>
          <p:cNvSpPr/>
          <p:nvPr/>
        </p:nvSpPr>
        <p:spPr>
          <a:xfrm>
            <a:off x="7086600" y="1325880"/>
            <a:ext cx="2141068" cy="1463040"/>
          </a:xfrm>
          <a:prstGeom prst="roundRect">
            <a:avLst>
              <a:gd name="adj" fmla="val 6250"/>
            </a:avLst>
          </a:prstGeom>
          <a:solidFill>
            <a:schemeClr val="bg2"/>
          </a:solidFill>
          <a:ln/>
        </p:spPr>
      </p:sp>
      <p:sp>
        <p:nvSpPr>
          <p:cNvPr id="6" name="stat-l-354"/>
          <p:cNvSpPr txBox="1"/>
          <p:nvPr/>
        </p:nvSpPr>
        <p:spPr>
          <a:xfrm>
            <a:off x="7269480" y="1463040"/>
            <a:ext cx="1775308"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FINAL REVENUE</a:t>
            </a:r>
            <a:endParaRPr lang="en-US" sz="1100" dirty="0"/>
          </a:p>
        </p:txBody>
      </p:sp>
      <p:sp>
        <p:nvSpPr>
          <p:cNvPr id="7" name="stat-v-355"/>
          <p:cNvSpPr txBox="1"/>
          <p:nvPr/>
        </p:nvSpPr>
        <p:spPr>
          <a:xfrm>
            <a:off x="7269480" y="1737360"/>
            <a:ext cx="1775308" cy="594360"/>
          </a:xfrm>
          <a:prstGeom prst="rect">
            <a:avLst/>
          </a:prstGeom>
          <a:noFill/>
          <a:ln/>
        </p:spPr>
        <p:txBody>
          <a:bodyPr wrap="square" lIns="0" tIns="0" rIns="0" bIns="0" rtlCol="0" anchor="ctr"/>
          <a:lstStyle/>
          <a:p>
            <a:pPr indent="0" marL="0">
              <a:buNone/>
            </a:pPr>
            <a:r>
              <a:rPr lang="en-US" sz="3000" b="1" dirty="0">
                <a:solidFill>
                  <a:schemeClr val="tx2"/>
                </a:solidFill>
              </a:rPr>
              <a:t>₹38.00 L</a:t>
            </a:r>
            <a:endParaRPr lang="en-US" sz="3000" dirty="0"/>
          </a:p>
        </p:txBody>
      </p:sp>
      <p:sp>
        <p:nvSpPr>
          <p:cNvPr id="8" name="stat-c-356"/>
          <p:cNvSpPr txBox="1"/>
          <p:nvPr/>
        </p:nvSpPr>
        <p:spPr>
          <a:xfrm>
            <a:off x="7269480" y="2350008"/>
            <a:ext cx="1775308" cy="320040"/>
          </a:xfrm>
          <a:prstGeom prst="rect">
            <a:avLst/>
          </a:prstGeom>
          <a:noFill/>
          <a:ln/>
        </p:spPr>
        <p:txBody>
          <a:bodyPr wrap="square" lIns="0" tIns="0" rIns="0" bIns="0" rtlCol="0" anchor="t"/>
          <a:lstStyle/>
          <a:p>
            <a:pPr indent="0" marL="0">
              <a:buNone/>
            </a:pPr>
            <a:r>
              <a:rPr lang="en-US" sz="1200" dirty="0">
                <a:solidFill>
                  <a:schemeClr val="tx1"/>
                </a:solidFill>
              </a:rPr>
              <a:t>₹35 L contract + ₹3 L change order</a:t>
            </a:r>
            <a:endParaRPr lang="en-US" sz="1200" dirty="0"/>
          </a:p>
        </p:txBody>
      </p:sp>
      <p:sp>
        <p:nvSpPr>
          <p:cNvPr id="9" name="stat-bg-357"/>
          <p:cNvSpPr/>
          <p:nvPr/>
        </p:nvSpPr>
        <p:spPr>
          <a:xfrm>
            <a:off x="9501988" y="1325880"/>
            <a:ext cx="2141068" cy="1463040"/>
          </a:xfrm>
          <a:prstGeom prst="roundRect">
            <a:avLst>
              <a:gd name="adj" fmla="val 6250"/>
            </a:avLst>
          </a:prstGeom>
          <a:solidFill>
            <a:schemeClr val="bg2"/>
          </a:solidFill>
          <a:ln/>
        </p:spPr>
      </p:sp>
      <p:sp>
        <p:nvSpPr>
          <p:cNvPr id="10" name="stat-l-358"/>
          <p:cNvSpPr txBox="1"/>
          <p:nvPr/>
        </p:nvSpPr>
        <p:spPr>
          <a:xfrm>
            <a:off x="9684868" y="1463040"/>
            <a:ext cx="1775308"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FINAL COST</a:t>
            </a:r>
            <a:endParaRPr lang="en-US" sz="1100" dirty="0"/>
          </a:p>
        </p:txBody>
      </p:sp>
      <p:sp>
        <p:nvSpPr>
          <p:cNvPr id="11" name="stat-v-359"/>
          <p:cNvSpPr txBox="1"/>
          <p:nvPr/>
        </p:nvSpPr>
        <p:spPr>
          <a:xfrm>
            <a:off x="9684868" y="1737360"/>
            <a:ext cx="1775308" cy="594360"/>
          </a:xfrm>
          <a:prstGeom prst="rect">
            <a:avLst/>
          </a:prstGeom>
          <a:noFill/>
          <a:ln/>
        </p:spPr>
        <p:txBody>
          <a:bodyPr wrap="square" lIns="0" tIns="0" rIns="0" bIns="0" rtlCol="0" anchor="ctr"/>
          <a:lstStyle/>
          <a:p>
            <a:pPr indent="0" marL="0">
              <a:buNone/>
            </a:pPr>
            <a:r>
              <a:rPr lang="en-US" sz="3000" b="1" dirty="0">
                <a:solidFill>
                  <a:schemeClr val="tx2"/>
                </a:solidFill>
              </a:rPr>
              <a:t>₹25.24 L</a:t>
            </a:r>
            <a:endParaRPr lang="en-US" sz="3000" dirty="0"/>
          </a:p>
        </p:txBody>
      </p:sp>
      <p:sp>
        <p:nvSpPr>
          <p:cNvPr id="12" name="stat-c-360"/>
          <p:cNvSpPr txBox="1"/>
          <p:nvPr/>
        </p:nvSpPr>
        <p:spPr>
          <a:xfrm>
            <a:off x="9684868" y="2350008"/>
            <a:ext cx="1775308" cy="320040"/>
          </a:xfrm>
          <a:prstGeom prst="rect">
            <a:avLst/>
          </a:prstGeom>
          <a:noFill/>
          <a:ln/>
        </p:spPr>
        <p:txBody>
          <a:bodyPr wrap="square" lIns="0" tIns="0" rIns="0" bIns="0" rtlCol="0" anchor="t"/>
          <a:lstStyle/>
          <a:p>
            <a:pPr indent="0" marL="0">
              <a:buNone/>
            </a:pPr>
            <a:r>
              <a:rPr lang="en-US" sz="1200" dirty="0">
                <a:solidFill>
                  <a:schemeClr val="tx1"/>
                </a:solidFill>
              </a:rPr>
              <a:t>₹1.06 L under the ₹26.30 L plan</a:t>
            </a:r>
            <a:endParaRPr lang="en-US" sz="1200" dirty="0"/>
          </a:p>
        </p:txBody>
      </p:sp>
      <p:sp>
        <p:nvSpPr>
          <p:cNvPr id="13" name="stat-bg-361"/>
          <p:cNvSpPr/>
          <p:nvPr/>
        </p:nvSpPr>
        <p:spPr>
          <a:xfrm>
            <a:off x="7086600" y="2971800"/>
            <a:ext cx="2141068" cy="1463040"/>
          </a:xfrm>
          <a:prstGeom prst="roundRect">
            <a:avLst>
              <a:gd name="adj" fmla="val 6250"/>
            </a:avLst>
          </a:prstGeom>
          <a:solidFill>
            <a:schemeClr val="bg2"/>
          </a:solidFill>
          <a:ln/>
        </p:spPr>
      </p:sp>
      <p:sp>
        <p:nvSpPr>
          <p:cNvPr id="14" name="stat-l-362"/>
          <p:cNvSpPr txBox="1"/>
          <p:nvPr/>
        </p:nvSpPr>
        <p:spPr>
          <a:xfrm>
            <a:off x="7269480" y="3108960"/>
            <a:ext cx="1775308"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FINAL PROFIT</a:t>
            </a:r>
            <a:endParaRPr lang="en-US" sz="1100" dirty="0"/>
          </a:p>
        </p:txBody>
      </p:sp>
      <p:sp>
        <p:nvSpPr>
          <p:cNvPr id="15" name="stat-v-363"/>
          <p:cNvSpPr txBox="1"/>
          <p:nvPr/>
        </p:nvSpPr>
        <p:spPr>
          <a:xfrm>
            <a:off x="7269480" y="3383280"/>
            <a:ext cx="1775308" cy="594360"/>
          </a:xfrm>
          <a:prstGeom prst="rect">
            <a:avLst/>
          </a:prstGeom>
          <a:noFill/>
          <a:ln/>
        </p:spPr>
        <p:txBody>
          <a:bodyPr wrap="square" lIns="0" tIns="0" rIns="0" bIns="0" rtlCol="0" anchor="ctr"/>
          <a:lstStyle/>
          <a:p>
            <a:pPr indent="0" marL="0">
              <a:buNone/>
            </a:pPr>
            <a:r>
              <a:rPr lang="en-US" sz="3000" b="1" dirty="0">
                <a:solidFill>
                  <a:schemeClr val="accent3"/>
                </a:solidFill>
              </a:rPr>
              <a:t>₹12.76 L</a:t>
            </a:r>
            <a:endParaRPr lang="en-US" sz="3000" dirty="0"/>
          </a:p>
        </p:txBody>
      </p:sp>
      <p:sp>
        <p:nvSpPr>
          <p:cNvPr id="16" name="stat-c-364"/>
          <p:cNvSpPr txBox="1"/>
          <p:nvPr/>
        </p:nvSpPr>
        <p:spPr>
          <a:xfrm>
            <a:off x="7269480" y="3995928"/>
            <a:ext cx="1775308" cy="320040"/>
          </a:xfrm>
          <a:prstGeom prst="rect">
            <a:avLst/>
          </a:prstGeom>
          <a:noFill/>
          <a:ln/>
        </p:spPr>
        <p:txBody>
          <a:bodyPr wrap="square" lIns="0" tIns="0" rIns="0" bIns="0" rtlCol="0" anchor="t"/>
          <a:lstStyle/>
          <a:p>
            <a:pPr indent="0" marL="0">
              <a:buNone/>
            </a:pPr>
            <a:r>
              <a:rPr lang="en-US" sz="1200" dirty="0">
                <a:solidFill>
                  <a:schemeClr val="tx1"/>
                </a:solidFill>
              </a:rPr>
              <a:t>33.59% margin (30.8% planned)</a:t>
            </a:r>
            <a:endParaRPr lang="en-US" sz="1200" dirty="0"/>
          </a:p>
        </p:txBody>
      </p:sp>
      <p:sp>
        <p:nvSpPr>
          <p:cNvPr id="17" name="stat-bg-365"/>
          <p:cNvSpPr/>
          <p:nvPr/>
        </p:nvSpPr>
        <p:spPr>
          <a:xfrm>
            <a:off x="9501988" y="2971800"/>
            <a:ext cx="2141068" cy="1463040"/>
          </a:xfrm>
          <a:prstGeom prst="roundRect">
            <a:avLst>
              <a:gd name="adj" fmla="val 6250"/>
            </a:avLst>
          </a:prstGeom>
          <a:solidFill>
            <a:schemeClr val="bg2"/>
          </a:solidFill>
          <a:ln/>
        </p:spPr>
      </p:sp>
      <p:sp>
        <p:nvSpPr>
          <p:cNvPr id="18" name="stat-l-366"/>
          <p:cNvSpPr txBox="1"/>
          <p:nvPr/>
        </p:nvSpPr>
        <p:spPr>
          <a:xfrm>
            <a:off x="9684868" y="3108960"/>
            <a:ext cx="1775308" cy="274320"/>
          </a:xfrm>
          <a:prstGeom prst="rect">
            <a:avLst/>
          </a:prstGeom>
          <a:noFill/>
          <a:ln/>
        </p:spPr>
        <p:txBody>
          <a:bodyPr wrap="square" lIns="0" tIns="0" rIns="0" bIns="0" rtlCol="0" anchor="ctr"/>
          <a:lstStyle/>
          <a:p>
            <a:pPr indent="0" marL="0">
              <a:buNone/>
            </a:pPr>
            <a:r>
              <a:rPr lang="en-US" sz="1100" b="1" spc="100" kern="0" dirty="0">
                <a:solidFill>
                  <a:schemeClr val="accent6"/>
                </a:solidFill>
              </a:rPr>
              <a:t>STILL OPEN</a:t>
            </a:r>
            <a:endParaRPr lang="en-US" sz="1100" dirty="0"/>
          </a:p>
        </p:txBody>
      </p:sp>
      <p:sp>
        <p:nvSpPr>
          <p:cNvPr id="19" name="stat-v-367"/>
          <p:cNvSpPr txBox="1"/>
          <p:nvPr/>
        </p:nvSpPr>
        <p:spPr>
          <a:xfrm>
            <a:off x="9684868" y="3383280"/>
            <a:ext cx="1775308" cy="594360"/>
          </a:xfrm>
          <a:prstGeom prst="rect">
            <a:avLst/>
          </a:prstGeom>
          <a:noFill/>
          <a:ln/>
        </p:spPr>
        <p:txBody>
          <a:bodyPr wrap="square" lIns="0" tIns="0" rIns="0" bIns="0" rtlCol="0" anchor="ctr"/>
          <a:lstStyle/>
          <a:p>
            <a:pPr indent="0" marL="0">
              <a:buNone/>
            </a:pPr>
            <a:r>
              <a:rPr lang="en-US" sz="3000" b="1" dirty="0">
                <a:solidFill>
                  <a:schemeClr val="accent5"/>
                </a:solidFill>
              </a:rPr>
              <a:t>₹3.47 L</a:t>
            </a:r>
            <a:endParaRPr lang="en-US" sz="3000" dirty="0"/>
          </a:p>
        </p:txBody>
      </p:sp>
      <p:sp>
        <p:nvSpPr>
          <p:cNvPr id="20" name="stat-c-368"/>
          <p:cNvSpPr txBox="1"/>
          <p:nvPr/>
        </p:nvSpPr>
        <p:spPr>
          <a:xfrm>
            <a:off x="9684868" y="3995928"/>
            <a:ext cx="1775308" cy="320040"/>
          </a:xfrm>
          <a:prstGeom prst="rect">
            <a:avLst/>
          </a:prstGeom>
          <a:noFill/>
          <a:ln/>
        </p:spPr>
        <p:txBody>
          <a:bodyPr wrap="square" lIns="0" tIns="0" rIns="0" bIns="0" rtlCol="0" anchor="t"/>
          <a:lstStyle/>
          <a:p>
            <a:pPr indent="0" marL="0">
              <a:buNone/>
            </a:pPr>
            <a:r>
              <a:rPr lang="en-US" sz="1200" dirty="0">
                <a:solidFill>
                  <a:schemeClr val="tx1"/>
                </a:solidFill>
              </a:rPr>
              <a:t>₹2.50 L from client · ₹0.97 L to suppliers</a:t>
            </a:r>
            <a:endParaRPr lang="en-US" sz="1200" dirty="0"/>
          </a:p>
        </p:txBody>
      </p:sp>
      <p:sp>
        <p:nvSpPr>
          <p:cNvPr id="21" name="cl-note-369"/>
          <p:cNvSpPr txBox="1"/>
          <p:nvPr/>
        </p:nvSpPr>
        <p:spPr>
          <a:xfrm>
            <a:off x="7086600" y="4617720"/>
            <a:ext cx="4556455" cy="1417320"/>
          </a:xfrm>
          <a:prstGeom prst="rect">
            <a:avLst/>
          </a:prstGeom>
          <a:noFill/>
          <a:ln/>
        </p:spPr>
        <p:txBody>
          <a:bodyPr wrap="square" lIns="0" tIns="0" rIns="0" bIns="0" rtlCol="0" anchor="t"/>
          <a:lstStyle/>
          <a:p>
            <a:pPr indent="0" marL="0">
              <a:buNone/>
            </a:pPr>
            <a:r>
              <a:rPr lang="en-US" sz="1400" dirty="0">
                <a:solidFill>
                  <a:schemeClr val="tx1"/>
                </a:solidFill>
              </a:rPr>
              <a:t>Close project runs a 9-point checklist: all phases complete, all invoices raised, costs and payments recorded, pending amounts shown. Then it snapshots the figures and opens the report, ready to export or print.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nd-h-370"/>
          <p:cNvSpPr txBox="1"/>
          <p:nvPr/>
        </p:nvSpPr>
        <p:spPr>
          <a:xfrm>
            <a:off x="548640" y="548640"/>
            <a:ext cx="10515600" cy="822960"/>
          </a:xfrm>
          <a:prstGeom prst="rect">
            <a:avLst/>
          </a:prstGeom>
          <a:noFill/>
          <a:ln/>
        </p:spPr>
        <p:txBody>
          <a:bodyPr wrap="square" lIns="0" tIns="0" rIns="0" bIns="0" rtlCol="0" anchor="ctr"/>
          <a:lstStyle/>
          <a:p>
            <a:pPr indent="0" marL="0">
              <a:buNone/>
            </a:pPr>
            <a:r>
              <a:rPr lang="en-US" sz="3600" b="1" dirty="0">
                <a:solidFill>
                  <a:schemeClr val="bg1"/>
                </a:solidFill>
              </a:rPr>
              <a:t>Try the full walkthrough in 10 minutes</a:t>
            </a:r>
            <a:endParaRPr lang="en-US" sz="3600" dirty="0"/>
          </a:p>
        </p:txBody>
      </p:sp>
      <p:sp>
        <p:nvSpPr>
          <p:cNvPr id="3" name="end-b-371"/>
          <p:cNvSpPr/>
          <p:nvPr/>
        </p:nvSpPr>
        <p:spPr>
          <a:xfrm>
            <a:off x="548640" y="1600200"/>
            <a:ext cx="384048" cy="384048"/>
          </a:xfrm>
          <a:prstGeom prst="ellipse">
            <a:avLst/>
          </a:prstGeom>
          <a:solidFill>
            <a:schemeClr val="accent1"/>
          </a:solidFill>
          <a:ln/>
        </p:spPr>
      </p:sp>
      <p:sp>
        <p:nvSpPr>
          <p:cNvPr id="4" name="end-bn-372"/>
          <p:cNvSpPr txBox="1"/>
          <p:nvPr/>
        </p:nvSpPr>
        <p:spPr>
          <a:xfrm>
            <a:off x="548640" y="160020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5" name="end-t-373"/>
          <p:cNvSpPr txBox="1"/>
          <p:nvPr/>
        </p:nvSpPr>
        <p:spPr>
          <a:xfrm>
            <a:off x="1143000" y="1600200"/>
            <a:ext cx="9601200" cy="384048"/>
          </a:xfrm>
          <a:prstGeom prst="rect">
            <a:avLst/>
          </a:prstGeom>
          <a:noFill/>
          <a:ln/>
        </p:spPr>
        <p:txBody>
          <a:bodyPr wrap="square" lIns="0" tIns="0" rIns="0" bIns="0" rtlCol="0" anchor="ctr"/>
          <a:lstStyle/>
          <a:p>
            <a:pPr indent="0" marL="0">
              <a:buNone/>
            </a:pPr>
            <a:r>
              <a:rPr lang="en-US" sz="1700" dirty="0">
                <a:solidFill>
                  <a:schemeClr val="bg1"/>
                </a:solidFill>
              </a:rPr>
              <a:t>Quotations → open QT-2026-005 → Convert quote → project</a:t>
            </a:r>
            <a:endParaRPr lang="en-US" sz="1700" dirty="0"/>
          </a:p>
        </p:txBody>
      </p:sp>
      <p:sp>
        <p:nvSpPr>
          <p:cNvPr id="6" name="end-b-374"/>
          <p:cNvSpPr/>
          <p:nvPr/>
        </p:nvSpPr>
        <p:spPr>
          <a:xfrm>
            <a:off x="548640" y="2148840"/>
            <a:ext cx="384048" cy="384048"/>
          </a:xfrm>
          <a:prstGeom prst="ellipse">
            <a:avLst/>
          </a:prstGeom>
          <a:solidFill>
            <a:schemeClr val="accent1"/>
          </a:solidFill>
          <a:ln/>
        </p:spPr>
      </p:sp>
      <p:sp>
        <p:nvSpPr>
          <p:cNvPr id="7" name="end-bn-375"/>
          <p:cNvSpPr txBox="1"/>
          <p:nvPr/>
        </p:nvSpPr>
        <p:spPr>
          <a:xfrm>
            <a:off x="548640" y="21488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8" name="end-t-376"/>
          <p:cNvSpPr txBox="1"/>
          <p:nvPr/>
        </p:nvSpPr>
        <p:spPr>
          <a:xfrm>
            <a:off x="1143000" y="2148840"/>
            <a:ext cx="9601200" cy="384048"/>
          </a:xfrm>
          <a:prstGeom prst="rect">
            <a:avLst/>
          </a:prstGeom>
          <a:noFill/>
          <a:ln/>
        </p:spPr>
        <p:txBody>
          <a:bodyPr wrap="square" lIns="0" tIns="0" rIns="0" bIns="0" rtlCol="0" anchor="ctr"/>
          <a:lstStyle/>
          <a:p>
            <a:pPr indent="0" marL="0">
              <a:buNone/>
            </a:pPr>
            <a:r>
              <a:rPr lang="en-US" sz="1700" dirty="0">
                <a:solidFill>
                  <a:schemeClr val="bg1"/>
                </a:solidFill>
              </a:rPr>
              <a:t>Upload the signed contract → project becomes Active</a:t>
            </a:r>
            <a:endParaRPr lang="en-US" sz="1700" dirty="0"/>
          </a:p>
        </p:txBody>
      </p:sp>
      <p:sp>
        <p:nvSpPr>
          <p:cNvPr id="9" name="end-b-377"/>
          <p:cNvSpPr/>
          <p:nvPr/>
        </p:nvSpPr>
        <p:spPr>
          <a:xfrm>
            <a:off x="548640" y="2697480"/>
            <a:ext cx="384048" cy="384048"/>
          </a:xfrm>
          <a:prstGeom prst="ellipse">
            <a:avLst/>
          </a:prstGeom>
          <a:solidFill>
            <a:schemeClr val="accent1"/>
          </a:solidFill>
          <a:ln/>
        </p:spPr>
      </p:sp>
      <p:sp>
        <p:nvSpPr>
          <p:cNvPr id="10" name="end-bn-378"/>
          <p:cNvSpPr txBox="1"/>
          <p:nvPr/>
        </p:nvSpPr>
        <p:spPr>
          <a:xfrm>
            <a:off x="548640" y="26974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1" name="end-t-379"/>
          <p:cNvSpPr txBox="1"/>
          <p:nvPr/>
        </p:nvSpPr>
        <p:spPr>
          <a:xfrm>
            <a:off x="1143000" y="2697480"/>
            <a:ext cx="9601200" cy="384048"/>
          </a:xfrm>
          <a:prstGeom prst="rect">
            <a:avLst/>
          </a:prstGeom>
          <a:noFill/>
          <a:ln/>
        </p:spPr>
        <p:txBody>
          <a:bodyPr wrap="square" lIns="0" tIns="0" rIns="0" bIns="0" rtlCol="0" anchor="ctr"/>
          <a:lstStyle/>
          <a:p>
            <a:pPr indent="0" marL="0">
              <a:buNone/>
            </a:pPr>
            <a:r>
              <a:rPr lang="en-US" sz="1700" dirty="0">
                <a:solidFill>
                  <a:schemeClr val="bg1"/>
                </a:solidFill>
              </a:rPr>
              <a:t>Set a phase to In Progress → Quick add → Expense</a:t>
            </a:r>
            <a:endParaRPr lang="en-US" sz="1700" dirty="0"/>
          </a:p>
        </p:txBody>
      </p:sp>
      <p:sp>
        <p:nvSpPr>
          <p:cNvPr id="12" name="end-b-380"/>
          <p:cNvSpPr/>
          <p:nvPr/>
        </p:nvSpPr>
        <p:spPr>
          <a:xfrm>
            <a:off x="548640" y="3246120"/>
            <a:ext cx="384048" cy="384048"/>
          </a:xfrm>
          <a:prstGeom prst="ellipse">
            <a:avLst/>
          </a:prstGeom>
          <a:solidFill>
            <a:schemeClr val="accent1"/>
          </a:solidFill>
          <a:ln/>
        </p:spPr>
      </p:sp>
      <p:sp>
        <p:nvSpPr>
          <p:cNvPr id="13" name="end-bn-381"/>
          <p:cNvSpPr txBox="1"/>
          <p:nvPr/>
        </p:nvSpPr>
        <p:spPr>
          <a:xfrm>
            <a:off x="548640" y="32461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4" name="end-t-382"/>
          <p:cNvSpPr txBox="1"/>
          <p:nvPr/>
        </p:nvSpPr>
        <p:spPr>
          <a:xfrm>
            <a:off x="1143000" y="3246120"/>
            <a:ext cx="9601200" cy="384048"/>
          </a:xfrm>
          <a:prstGeom prst="rect">
            <a:avLst/>
          </a:prstGeom>
          <a:noFill/>
          <a:ln/>
        </p:spPr>
        <p:txBody>
          <a:bodyPr wrap="square" lIns="0" tIns="0" rIns="0" bIns="0" rtlCol="0" anchor="ctr"/>
          <a:lstStyle/>
          <a:p>
            <a:pPr indent="0" marL="0">
              <a:buNone/>
            </a:pPr>
            <a:r>
              <a:rPr lang="en-US" sz="1700" dirty="0">
                <a:solidFill>
                  <a:schemeClr val="bg1"/>
                </a:solidFill>
              </a:rPr>
              <a:t>Suppliers → pay the new invoice</a:t>
            </a:r>
            <a:endParaRPr lang="en-US" sz="1700" dirty="0"/>
          </a:p>
        </p:txBody>
      </p:sp>
      <p:sp>
        <p:nvSpPr>
          <p:cNvPr id="15" name="end-b-383"/>
          <p:cNvSpPr/>
          <p:nvPr/>
        </p:nvSpPr>
        <p:spPr>
          <a:xfrm>
            <a:off x="548640" y="3794760"/>
            <a:ext cx="384048" cy="384048"/>
          </a:xfrm>
          <a:prstGeom prst="ellipse">
            <a:avLst/>
          </a:prstGeom>
          <a:solidFill>
            <a:schemeClr val="accent1"/>
          </a:solidFill>
          <a:ln/>
        </p:spPr>
      </p:sp>
      <p:sp>
        <p:nvSpPr>
          <p:cNvPr id="16" name="end-bn-384"/>
          <p:cNvSpPr txBox="1"/>
          <p:nvPr/>
        </p:nvSpPr>
        <p:spPr>
          <a:xfrm>
            <a:off x="548640" y="379476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7" name="end-t-385"/>
          <p:cNvSpPr txBox="1"/>
          <p:nvPr/>
        </p:nvSpPr>
        <p:spPr>
          <a:xfrm>
            <a:off x="1143000" y="3794760"/>
            <a:ext cx="9601200" cy="384048"/>
          </a:xfrm>
          <a:prstGeom prst="rect">
            <a:avLst/>
          </a:prstGeom>
          <a:noFill/>
          <a:ln/>
        </p:spPr>
        <p:txBody>
          <a:bodyPr wrap="square" lIns="0" tIns="0" rIns="0" bIns="0" rtlCol="0" anchor="ctr"/>
          <a:lstStyle/>
          <a:p>
            <a:pPr indent="0" marL="0">
              <a:buNone/>
            </a:pPr>
            <a:r>
              <a:rPr lang="en-US" sz="1700" dirty="0">
                <a:solidFill>
                  <a:schemeClr val="bg1"/>
                </a:solidFill>
              </a:rPr>
              <a:t>Mark the phase Completed → Generate invoice</a:t>
            </a:r>
            <a:endParaRPr lang="en-US" sz="1700" dirty="0"/>
          </a:p>
        </p:txBody>
      </p:sp>
      <p:sp>
        <p:nvSpPr>
          <p:cNvPr id="18" name="end-b-386"/>
          <p:cNvSpPr/>
          <p:nvPr/>
        </p:nvSpPr>
        <p:spPr>
          <a:xfrm>
            <a:off x="548640" y="4343400"/>
            <a:ext cx="384048" cy="384048"/>
          </a:xfrm>
          <a:prstGeom prst="ellipse">
            <a:avLst/>
          </a:prstGeom>
          <a:solidFill>
            <a:schemeClr val="accent1"/>
          </a:solidFill>
          <a:ln/>
        </p:spPr>
      </p:sp>
      <p:sp>
        <p:nvSpPr>
          <p:cNvPr id="19" name="end-bn-387"/>
          <p:cNvSpPr txBox="1"/>
          <p:nvPr/>
        </p:nvSpPr>
        <p:spPr>
          <a:xfrm>
            <a:off x="548640" y="434340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20" name="end-t-388"/>
          <p:cNvSpPr txBox="1"/>
          <p:nvPr/>
        </p:nvSpPr>
        <p:spPr>
          <a:xfrm>
            <a:off x="1143000" y="4343400"/>
            <a:ext cx="9601200" cy="384048"/>
          </a:xfrm>
          <a:prstGeom prst="rect">
            <a:avLst/>
          </a:prstGeom>
          <a:noFill/>
          <a:ln/>
        </p:spPr>
        <p:txBody>
          <a:bodyPr wrap="square" lIns="0" tIns="0" rIns="0" bIns="0" rtlCol="0" anchor="ctr"/>
          <a:lstStyle/>
          <a:p>
            <a:pPr indent="0" marL="0">
              <a:buNone/>
            </a:pPr>
            <a:r>
              <a:rPr lang="en-US" sz="1700" dirty="0">
                <a:solidFill>
                  <a:schemeClr val="bg1"/>
                </a:solidFill>
              </a:rPr>
              <a:t>Record client payment → watch pending and profit update</a:t>
            </a:r>
            <a:endParaRPr lang="en-US" sz="1700" dirty="0"/>
          </a:p>
        </p:txBody>
      </p:sp>
      <p:sp>
        <p:nvSpPr>
          <p:cNvPr id="21" name="end-b-389"/>
          <p:cNvSpPr/>
          <p:nvPr/>
        </p:nvSpPr>
        <p:spPr>
          <a:xfrm>
            <a:off x="548640" y="4892040"/>
            <a:ext cx="384048" cy="384048"/>
          </a:xfrm>
          <a:prstGeom prst="ellipse">
            <a:avLst/>
          </a:prstGeom>
          <a:solidFill>
            <a:schemeClr val="accent1"/>
          </a:solidFill>
          <a:ln/>
        </p:spPr>
      </p:sp>
      <p:sp>
        <p:nvSpPr>
          <p:cNvPr id="22" name="end-bn-390"/>
          <p:cNvSpPr txBox="1"/>
          <p:nvPr/>
        </p:nvSpPr>
        <p:spPr>
          <a:xfrm>
            <a:off x="548640" y="48920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7</a:t>
            </a:r>
            <a:endParaRPr lang="en-US" sz="1400" dirty="0"/>
          </a:p>
        </p:txBody>
      </p:sp>
      <p:sp>
        <p:nvSpPr>
          <p:cNvPr id="23" name="end-t-391"/>
          <p:cNvSpPr txBox="1"/>
          <p:nvPr/>
        </p:nvSpPr>
        <p:spPr>
          <a:xfrm>
            <a:off x="1143000" y="4892040"/>
            <a:ext cx="9601200" cy="384048"/>
          </a:xfrm>
          <a:prstGeom prst="rect">
            <a:avLst/>
          </a:prstGeom>
          <a:noFill/>
          <a:ln/>
        </p:spPr>
        <p:txBody>
          <a:bodyPr wrap="square" lIns="0" tIns="0" rIns="0" bIns="0" rtlCol="0" anchor="ctr"/>
          <a:lstStyle/>
          <a:p>
            <a:pPr indent="0" marL="0">
              <a:buNone/>
            </a:pPr>
            <a:r>
              <a:rPr lang="en-US" sz="1700" dirty="0">
                <a:solidFill>
                  <a:schemeClr val="bg1"/>
                </a:solidFill>
              </a:rPr>
              <a:t>Projects → SRK Warehouse → Close project → view report</a:t>
            </a:r>
            <a:endParaRPr lang="en-US" sz="1700" dirty="0"/>
          </a:p>
        </p:txBody>
      </p:sp>
      <p:sp>
        <p:nvSpPr>
          <p:cNvPr id="24" name="end-link-392"/>
          <p:cNvSpPr txBox="1"/>
          <p:nvPr/>
        </p:nvSpPr>
        <p:spPr>
          <a:xfrm>
            <a:off x="548640" y="5715000"/>
            <a:ext cx="10972800" cy="411480"/>
          </a:xfrm>
          <a:prstGeom prst="rect">
            <a:avLst/>
          </a:prstGeom>
          <a:noFill/>
          <a:ln/>
        </p:spPr>
        <p:txBody>
          <a:bodyPr wrap="square" lIns="0" tIns="0" rIns="0" bIns="0" rtlCol="0" anchor="ctr"/>
          <a:lstStyle/>
          <a:p>
            <a:pPr indent="0" marL="0">
              <a:buNone/>
            </a:pPr>
            <a:r>
              <a:rPr lang="en-US" sz="15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adetivedesk.github.io/Maali</a:t>
            </a:r>
            <a:pPr indent="0" marL="0">
              <a:buNone/>
            </a:pPr>
            <a:r>
              <a:rPr lang="en-US" sz="1500" dirty="0">
                <a:solidFill>
                  <a:schemeClr val="bg2"/>
                </a:solidFill>
              </a:rPr>
              <a:t>   ·   Demo data lives in your browser; use “Reset demo data” to start over</a:t>
            </a:r>
            <a:endParaRPr lang="en-US" sz="1500" dirty="0"/>
          </a:p>
        </p:txBody>
      </p:sp>
      <p:sp>
        <p:nvSpPr>
          <p:cNvPr id="26" name="Text 0"/>
          <p:cNvSpPr/>
          <p:nvPr>
            <p:ph idx="100" type="title" hasCustomPrompt="1"/>
          </p:nvPr>
        </p:nvSpPr>
        <p:spPr>
          <a:xfrm>
            <a:off x="548640" y="2743200"/>
            <a:ext cx="10515600" cy="1097280"/>
          </a:xfrm>
          <a:prstGeom prst="rect">
            <a:avLst/>
          </a:prstGeom>
          <a:noFill/>
          <a:ln/>
        </p:spPr>
        <p:txBody>
          <a:bodyPr wrap="square" lIns="0" tIns="0" rIns="0" bIns="0" rtlCol="0" anchor="t"/>
          <a:lstStyle/>
          <a:p>
            <a:pPr algn="l" indent="0" marL="0">
              <a:buNone/>
            </a:pPr>
            <a:endParaRPr lang="en-US" sz="4000" dirty="0"/>
          </a:p>
        </p:txBody>
      </p:sp>
      <p:sp>
        <p:nvSpPr>
          <p:cNvPr id="27" name="Text 0"/>
          <p:cNvSpPr/>
          <p:nvPr>
            <p:ph idx="101" type="body" hasCustomPrompt="1"/>
          </p:nvPr>
        </p:nvSpPr>
        <p:spPr>
          <a:xfrm>
            <a:off x="548640" y="3886200"/>
            <a:ext cx="10515600" cy="82296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Maali Site Navy">
  <a:themeElements>
    <a:clrScheme name="Maali Site Navy">
      <a:dk1>
        <a:srgbClr val="0F172A"/>
      </a:dk1>
      <a:lt1>
        <a:srgbClr val="FFFFFF"/>
      </a:lt1>
      <a:dk2>
        <a:srgbClr val="0F1F3A"/>
      </a:dk2>
      <a:lt2>
        <a:srgbClr val="EEF2F7"/>
      </a:lt2>
      <a:accent1>
        <a:srgbClr val="F2A900"/>
      </a:accent1>
      <a:accent2>
        <a:srgbClr val="2A78D6"/>
      </a:accent2>
      <a:accent3>
        <a:srgbClr val="138A5E"/>
      </a:accent3>
      <a:accent4>
        <a:srgbClr val="EB6834"/>
      </a:accent4>
      <a:accent5>
        <a:srgbClr val="C93434"/>
      </a:accent5>
      <a:accent6>
        <a:srgbClr val="64748B"/>
      </a:accent6>
      <a:hlink>
        <a:srgbClr val="2A78D6"/>
      </a:hlink>
      <a:folHlink>
        <a:srgbClr val="4A3AA7"/>
      </a:folHlink>
    </a:clrScheme>
    <a:fontScheme name="Maali Site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Maali Civil ERP — Figures and Workflow Walkthrough</dc:title>
  <dc:subject>PptxGenJS Presentation</dc:subject>
  <dc:creator>Maali Civil ERP</dc:creator>
  <cp:lastModifiedBy>Maali Civil ERP</cp:lastModifiedBy>
  <cp:revision>1</cp:revision>
  <dcterms:created xsi:type="dcterms:W3CDTF">2026-10-04T07:46:02Z</dcterms:created>
  <dcterms:modified xsi:type="dcterms:W3CDTF">2026-10-04T07:46:02Z</dcterms:modified>
</cp:coreProperties>
</file>